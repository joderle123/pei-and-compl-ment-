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47"/>
  </p:notesMasterIdLst>
  <p:handoutMasterIdLst>
    <p:handoutMasterId r:id="rId48"/>
  </p:handoutMasterIdLst>
  <p:sldIdLst>
    <p:sldId id="258" r:id="rId2"/>
    <p:sldId id="328" r:id="rId3"/>
    <p:sldId id="324" r:id="rId4"/>
    <p:sldId id="259" r:id="rId5"/>
    <p:sldId id="351" r:id="rId6"/>
    <p:sldId id="268" r:id="rId7"/>
    <p:sldId id="269" r:id="rId8"/>
    <p:sldId id="270" r:id="rId9"/>
    <p:sldId id="271" r:id="rId10"/>
    <p:sldId id="272" r:id="rId11"/>
    <p:sldId id="273" r:id="rId12"/>
    <p:sldId id="261" r:id="rId13"/>
    <p:sldId id="274" r:id="rId14"/>
    <p:sldId id="276" r:id="rId15"/>
    <p:sldId id="278" r:id="rId16"/>
    <p:sldId id="277" r:id="rId17"/>
    <p:sldId id="287" r:id="rId18"/>
    <p:sldId id="308" r:id="rId19"/>
    <p:sldId id="280" r:id="rId20"/>
    <p:sldId id="281" r:id="rId21"/>
    <p:sldId id="352" r:id="rId22"/>
    <p:sldId id="353" r:id="rId23"/>
    <p:sldId id="279" r:id="rId24"/>
    <p:sldId id="286" r:id="rId25"/>
    <p:sldId id="290" r:id="rId26"/>
    <p:sldId id="292" r:id="rId27"/>
    <p:sldId id="293" r:id="rId28"/>
    <p:sldId id="294" r:id="rId29"/>
    <p:sldId id="296" r:id="rId30"/>
    <p:sldId id="297" r:id="rId31"/>
    <p:sldId id="333" r:id="rId32"/>
    <p:sldId id="337" r:id="rId33"/>
    <p:sldId id="338" r:id="rId34"/>
    <p:sldId id="339" r:id="rId35"/>
    <p:sldId id="340" r:id="rId36"/>
    <p:sldId id="341" r:id="rId37"/>
    <p:sldId id="342" r:id="rId38"/>
    <p:sldId id="343" r:id="rId39"/>
    <p:sldId id="344" r:id="rId40"/>
    <p:sldId id="345" r:id="rId41"/>
    <p:sldId id="347" r:id="rId42"/>
    <p:sldId id="348" r:id="rId43"/>
    <p:sldId id="349" r:id="rId44"/>
    <p:sldId id="350" r:id="rId45"/>
    <p:sldId id="354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y Wood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9900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102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marymwood:Desktop:Workbook2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marymwood:Desktop:Workbook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 lIns="2">
            <a:spAutoFit/>
          </a:bodyPr>
          <a:lstStyle/>
          <a:p>
            <a:pPr>
              <a:defRPr/>
            </a:pPr>
            <a:r>
              <a:rPr lang="en-US" sz="2000" dirty="0"/>
              <a:t>Student’s Baseline to End-of-Year Progress </a:t>
            </a:r>
            <a:r>
              <a:rPr lang="en-US" sz="2000" baseline="0" dirty="0"/>
              <a:t>Compared to Age Peer Progress </a:t>
            </a:r>
            <a:endParaRPr lang="en-US" sz="2000" dirty="0"/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dLbls>
            <c:dLbl>
              <c:idx val="0"/>
              <c:layout>
                <c:manualLayout>
                  <c:x val="-1.93370165745856E-2"/>
                  <c:y val="5.000000000000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C1DF-48FA-864F-078BA5D70C45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0"/>
                  <c:y val="2.50000000000000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C1DF-48FA-864F-078BA5D70C4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Sheet1!$A$1:$B$1</c:f>
              <c:strCache>
                <c:ptCount val="2"/>
                <c:pt idx="0">
                  <c:v>Baseline</c:v>
                </c:pt>
                <c:pt idx="1">
                  <c:v>End of Year</c:v>
                </c:pt>
              </c:strCache>
            </c:strRef>
          </c:cat>
          <c:val>
            <c:numRef>
              <c:f>Sheet1!$A$2:$B$2</c:f>
              <c:numCache>
                <c:formatCode>General</c:formatCode>
                <c:ptCount val="2"/>
                <c:pt idx="0">
                  <c:v>108</c:v>
                </c:pt>
                <c:pt idx="1">
                  <c:v>117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C1DF-48FA-864F-078BA5D70C45}"/>
            </c:ext>
          </c:extLst>
        </c:ser>
        <c:ser>
          <c:idx val="1"/>
          <c:order val="1"/>
          <c:dLbls>
            <c:dLbl>
              <c:idx val="0"/>
              <c:layout>
                <c:manualLayout>
                  <c:x val="-7.7348066298342497E-2"/>
                  <c:y val="-4.28571428571428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C1DF-48FA-864F-078BA5D70C45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8.2872928176794605E-3"/>
                  <c:y val="-2.85717097862767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C1DF-48FA-864F-078BA5D70C4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Sheet1!$A$1:$B$1</c:f>
              <c:strCache>
                <c:ptCount val="2"/>
                <c:pt idx="0">
                  <c:v>Baseline</c:v>
                </c:pt>
                <c:pt idx="1">
                  <c:v>End of Year</c:v>
                </c:pt>
              </c:strCache>
            </c:strRef>
          </c:cat>
          <c:val>
            <c:numRef>
              <c:f>Sheet1!$A$3:$B$3</c:f>
              <c:numCache>
                <c:formatCode>General</c:formatCode>
                <c:ptCount val="2"/>
                <c:pt idx="0">
                  <c:v>133</c:v>
                </c:pt>
                <c:pt idx="1">
                  <c:v>139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5-C1DF-48FA-864F-078BA5D70C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33797752"/>
        <c:axId val="433798928"/>
      </c:lineChart>
      <c:catAx>
        <c:axId val="4337977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433798928"/>
        <c:crosses val="autoZero"/>
        <c:auto val="1"/>
        <c:lblAlgn val="ctr"/>
        <c:lblOffset val="100"/>
        <c:noMultiLvlLbl val="0"/>
      </c:catAx>
      <c:valAx>
        <c:axId val="4337989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33797752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 lIns="2">
            <a:spAutoFit/>
          </a:bodyPr>
          <a:lstStyle/>
          <a:p>
            <a:pPr>
              <a:defRPr/>
            </a:pPr>
            <a:r>
              <a:rPr lang="en-US" sz="2000" dirty="0"/>
              <a:t>Student’s Baseline to End-of-Year Progress  </a:t>
            </a:r>
            <a:r>
              <a:rPr lang="en-US" sz="2000" baseline="0" dirty="0"/>
              <a:t>Compared to Pre- Intervention Rate of Progress </a:t>
            </a:r>
            <a:endParaRPr lang="en-US" sz="2000" dirty="0"/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dLbls>
            <c:dLbl>
              <c:idx val="0"/>
              <c:layout>
                <c:manualLayout>
                  <c:x val="-1.93370165745856E-2"/>
                  <c:y val="5.000000000000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A113-4E47-9A97-4E7E34D5F643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5.5248618784529404E-3"/>
                  <c:y val="-3.21428571428570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113-4E47-9A97-4E7E34D5F643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Sheet1!$A$1:$B$1</c:f>
              <c:strCache>
                <c:ptCount val="2"/>
                <c:pt idx="0">
                  <c:v>Baseline</c:v>
                </c:pt>
                <c:pt idx="1">
                  <c:v>End of Year</c:v>
                </c:pt>
              </c:strCache>
            </c:strRef>
          </c:cat>
          <c:val>
            <c:numRef>
              <c:f>Sheet1!$A$2:$B$2</c:f>
              <c:numCache>
                <c:formatCode>General</c:formatCode>
                <c:ptCount val="2"/>
                <c:pt idx="0">
                  <c:v>108</c:v>
                </c:pt>
                <c:pt idx="1">
                  <c:v>117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A113-4E47-9A97-4E7E34D5F643}"/>
            </c:ext>
          </c:extLst>
        </c:ser>
        <c:ser>
          <c:idx val="1"/>
          <c:order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Sheet1!$A$1:$B$1</c:f>
              <c:strCache>
                <c:ptCount val="2"/>
                <c:pt idx="0">
                  <c:v>Baseline</c:v>
                </c:pt>
                <c:pt idx="1">
                  <c:v>End of Year</c:v>
                </c:pt>
              </c:strCache>
            </c:strRef>
          </c:cat>
          <c:val>
            <c:numRef>
              <c:f>Sheet1!$A$3:$B$3</c:f>
              <c:numCache>
                <c:formatCode>General</c:formatCode>
                <c:ptCount val="2"/>
                <c:pt idx="0">
                  <c:v>108</c:v>
                </c:pt>
                <c:pt idx="1">
                  <c:v>115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A113-4E47-9A97-4E7E34D5F6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81244096"/>
        <c:axId val="434358464"/>
      </c:lineChart>
      <c:catAx>
        <c:axId val="3812440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434358464"/>
        <c:crosses val="autoZero"/>
        <c:auto val="1"/>
        <c:lblAlgn val="ctr"/>
        <c:lblOffset val="100"/>
        <c:noMultiLvlLbl val="0"/>
      </c:catAx>
      <c:valAx>
        <c:axId val="4343584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8124409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B8FE1D-F4F7-3F40-8BF1-3AE57670B6AB}" type="doc">
      <dgm:prSet loTypeId="urn:microsoft.com/office/officeart/2005/8/layout/pyramid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ED35FE-2837-1045-BFCB-588EEA15EBAF}">
      <dgm:prSet/>
      <dgm:spPr>
        <a:solidFill>
          <a:srgbClr val="B9CDE5"/>
        </a:solidFill>
      </dgm:spPr>
      <dgm:t>
        <a:bodyPr/>
        <a:lstStyle/>
        <a:p>
          <a:r>
            <a:rPr lang="en-US" b="1" dirty="0">
              <a:solidFill>
                <a:schemeClr val="tx1"/>
              </a:solidFill>
              <a:latin typeface="+mj-lt"/>
            </a:rPr>
            <a:t>	</a:t>
          </a:r>
          <a:endParaRPr lang="en-US" dirty="0">
            <a:solidFill>
              <a:schemeClr val="tx1"/>
            </a:solidFill>
          </a:endParaRPr>
        </a:p>
      </dgm:t>
    </dgm:pt>
    <dgm:pt modelId="{92849844-D950-2F42-A752-3A803EDC920F}" type="parTrans" cxnId="{51DB3F36-B230-E142-AFA0-2ACC99B0A6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83B72C3-BBFA-E64F-98AB-35888DD02D0A}" type="sibTrans" cxnId="{51DB3F36-B230-E142-AFA0-2ACC99B0A6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EBF4E8-D701-8141-B7F6-B395E0C9829C}" type="pres">
      <dgm:prSet presAssocID="{4FB8FE1D-F4F7-3F40-8BF1-3AE57670B6AB}" presName="compositeShape" presStyleCnt="0">
        <dgm:presLayoutVars>
          <dgm:chMax val="9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B5B1F20-7FC3-3647-85F9-18C051C7166B}" type="pres">
      <dgm:prSet presAssocID="{4FB8FE1D-F4F7-3F40-8BF1-3AE57670B6AB}" presName="triangle1" presStyleLbl="node1" presStyleIdx="0" presStyleCnt="1" custFlipVert="1" custScaleX="134147" custLinFactNeighborX="35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D849D05-6C0A-7741-927C-33314039F6FF}" type="presOf" srcId="{4FB8FE1D-F4F7-3F40-8BF1-3AE57670B6AB}" destId="{B7EBF4E8-D701-8141-B7F6-B395E0C9829C}" srcOrd="0" destOrd="0" presId="urn:microsoft.com/office/officeart/2005/8/layout/pyramid4"/>
    <dgm:cxn modelId="{3506D5C2-FB5B-E540-83A2-65CBF7ACB2B6}" type="presOf" srcId="{43ED35FE-2837-1045-BFCB-588EEA15EBAF}" destId="{CB5B1F20-7FC3-3647-85F9-18C051C7166B}" srcOrd="0" destOrd="0" presId="urn:microsoft.com/office/officeart/2005/8/layout/pyramid4"/>
    <dgm:cxn modelId="{51DB3F36-B230-E142-AFA0-2ACC99B0A6DB}" srcId="{4FB8FE1D-F4F7-3F40-8BF1-3AE57670B6AB}" destId="{43ED35FE-2837-1045-BFCB-588EEA15EBAF}" srcOrd="0" destOrd="0" parTransId="{92849844-D950-2F42-A752-3A803EDC920F}" sibTransId="{583B72C3-BBFA-E64F-98AB-35888DD02D0A}"/>
    <dgm:cxn modelId="{97D6D7B7-A494-8C4D-BB15-B279A532F3FF}" type="presParOf" srcId="{B7EBF4E8-D701-8141-B7F6-B395E0C9829C}" destId="{CB5B1F20-7FC3-3647-85F9-18C051C7166B}" srcOrd="0" destOrd="0" presId="urn:microsoft.com/office/officeart/2005/8/layout/pyramid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B8FE1D-F4F7-3F40-8BF1-3AE57670B6AB}" type="doc">
      <dgm:prSet loTypeId="urn:microsoft.com/office/officeart/2005/8/layout/pyramid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ED35FE-2837-1045-BFCB-588EEA15EBAF}">
      <dgm:prSet/>
      <dgm:spPr>
        <a:solidFill>
          <a:srgbClr val="B9CDE5"/>
        </a:solidFill>
      </dgm:spPr>
      <dgm:t>
        <a:bodyPr/>
        <a:lstStyle/>
        <a:p>
          <a:r>
            <a:rPr lang="en-US" b="1" dirty="0">
              <a:solidFill>
                <a:schemeClr val="tx1"/>
              </a:solidFill>
              <a:latin typeface="+mj-lt"/>
            </a:rPr>
            <a:t>	</a:t>
          </a:r>
          <a:endParaRPr lang="en-US" dirty="0">
            <a:solidFill>
              <a:schemeClr val="tx1"/>
            </a:solidFill>
          </a:endParaRPr>
        </a:p>
      </dgm:t>
    </dgm:pt>
    <dgm:pt modelId="{92849844-D950-2F42-A752-3A803EDC920F}" type="parTrans" cxnId="{51DB3F36-B230-E142-AFA0-2ACC99B0A6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83B72C3-BBFA-E64F-98AB-35888DD02D0A}" type="sibTrans" cxnId="{51DB3F36-B230-E142-AFA0-2ACC99B0A6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EBF4E8-D701-8141-B7F6-B395E0C9829C}" type="pres">
      <dgm:prSet presAssocID="{4FB8FE1D-F4F7-3F40-8BF1-3AE57670B6AB}" presName="compositeShape" presStyleCnt="0">
        <dgm:presLayoutVars>
          <dgm:chMax val="9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B5B1F20-7FC3-3647-85F9-18C051C7166B}" type="pres">
      <dgm:prSet presAssocID="{4FB8FE1D-F4F7-3F40-8BF1-3AE57670B6AB}" presName="triangle1" presStyleLbl="node1" presStyleIdx="0" presStyleCnt="1" custFlipVert="1" custScaleX="144168" custLinFactNeighborX="-760" custLinFactNeighborY="790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DA105A2-041A-E44E-A2F0-16516EEFFA6F}" type="presOf" srcId="{43ED35FE-2837-1045-BFCB-588EEA15EBAF}" destId="{CB5B1F20-7FC3-3647-85F9-18C051C7166B}" srcOrd="0" destOrd="0" presId="urn:microsoft.com/office/officeart/2005/8/layout/pyramid4"/>
    <dgm:cxn modelId="{AE5BB1A5-0239-E34F-9B7D-F6F8F80C39D0}" type="presOf" srcId="{4FB8FE1D-F4F7-3F40-8BF1-3AE57670B6AB}" destId="{B7EBF4E8-D701-8141-B7F6-B395E0C9829C}" srcOrd="0" destOrd="0" presId="urn:microsoft.com/office/officeart/2005/8/layout/pyramid4"/>
    <dgm:cxn modelId="{51DB3F36-B230-E142-AFA0-2ACC99B0A6DB}" srcId="{4FB8FE1D-F4F7-3F40-8BF1-3AE57670B6AB}" destId="{43ED35FE-2837-1045-BFCB-588EEA15EBAF}" srcOrd="0" destOrd="0" parTransId="{92849844-D950-2F42-A752-3A803EDC920F}" sibTransId="{583B72C3-BBFA-E64F-98AB-35888DD02D0A}"/>
    <dgm:cxn modelId="{F919F387-EC8A-9746-AADA-D2A0FB36773B}" type="presParOf" srcId="{B7EBF4E8-D701-8141-B7F6-B395E0C9829C}" destId="{CB5B1F20-7FC3-3647-85F9-18C051C7166B}" srcOrd="0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FB8FE1D-F4F7-3F40-8BF1-3AE57670B6AB}" type="doc">
      <dgm:prSet loTypeId="urn:microsoft.com/office/officeart/2005/8/layout/pyramid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ED35FE-2837-1045-BFCB-588EEA15EBAF}">
      <dgm:prSet/>
      <dgm:spPr>
        <a:solidFill>
          <a:srgbClr val="B9CDE5"/>
        </a:solidFill>
      </dgm:spPr>
      <dgm:t>
        <a:bodyPr/>
        <a:lstStyle/>
        <a:p>
          <a:r>
            <a:rPr lang="en-US" b="1" dirty="0">
              <a:solidFill>
                <a:schemeClr val="tx1"/>
              </a:solidFill>
              <a:latin typeface="+mj-lt"/>
            </a:rPr>
            <a:t>	</a:t>
          </a:r>
          <a:endParaRPr lang="en-US" dirty="0">
            <a:solidFill>
              <a:schemeClr val="tx1"/>
            </a:solidFill>
          </a:endParaRPr>
        </a:p>
      </dgm:t>
    </dgm:pt>
    <dgm:pt modelId="{92849844-D950-2F42-A752-3A803EDC920F}" type="parTrans" cxnId="{51DB3F36-B230-E142-AFA0-2ACC99B0A6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83B72C3-BBFA-E64F-98AB-35888DD02D0A}" type="sibTrans" cxnId="{51DB3F36-B230-E142-AFA0-2ACC99B0A6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EBF4E8-D701-8141-B7F6-B395E0C9829C}" type="pres">
      <dgm:prSet presAssocID="{4FB8FE1D-F4F7-3F40-8BF1-3AE57670B6AB}" presName="compositeShape" presStyleCnt="0">
        <dgm:presLayoutVars>
          <dgm:chMax val="9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B5B1F20-7FC3-3647-85F9-18C051C7166B}" type="pres">
      <dgm:prSet presAssocID="{4FB8FE1D-F4F7-3F40-8BF1-3AE57670B6AB}" presName="triangle1" presStyleLbl="node1" presStyleIdx="0" presStyleCnt="1" custFlipVert="1" custScaleX="132285" custScaleY="93893" custLinFactNeighborX="-1516" custLinFactNeighborY="305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7EA0409-8F13-8442-B722-2F7BF86EDE2E}" type="presOf" srcId="{43ED35FE-2837-1045-BFCB-588EEA15EBAF}" destId="{CB5B1F20-7FC3-3647-85F9-18C051C7166B}" srcOrd="0" destOrd="0" presId="urn:microsoft.com/office/officeart/2005/8/layout/pyramid4"/>
    <dgm:cxn modelId="{315B3C2B-72F4-F341-A9AB-B3E950D9D3A8}" type="presOf" srcId="{4FB8FE1D-F4F7-3F40-8BF1-3AE57670B6AB}" destId="{B7EBF4E8-D701-8141-B7F6-B395E0C9829C}" srcOrd="0" destOrd="0" presId="urn:microsoft.com/office/officeart/2005/8/layout/pyramid4"/>
    <dgm:cxn modelId="{51DB3F36-B230-E142-AFA0-2ACC99B0A6DB}" srcId="{4FB8FE1D-F4F7-3F40-8BF1-3AE57670B6AB}" destId="{43ED35FE-2837-1045-BFCB-588EEA15EBAF}" srcOrd="0" destOrd="0" parTransId="{92849844-D950-2F42-A752-3A803EDC920F}" sibTransId="{583B72C3-BBFA-E64F-98AB-35888DD02D0A}"/>
    <dgm:cxn modelId="{4F7152CC-8595-B047-A3DE-01EF257C9442}" type="presParOf" srcId="{B7EBF4E8-D701-8141-B7F6-B395E0C9829C}" destId="{CB5B1F20-7FC3-3647-85F9-18C051C7166B}" srcOrd="0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FB8FE1D-F4F7-3F40-8BF1-3AE57670B6AB}" type="doc">
      <dgm:prSet loTypeId="urn:microsoft.com/office/officeart/2005/8/layout/pyramid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ED35FE-2837-1045-BFCB-588EEA15EBAF}">
      <dgm:prSet/>
      <dgm:spPr>
        <a:solidFill>
          <a:srgbClr val="B9CDE5"/>
        </a:solidFill>
      </dgm:spPr>
      <dgm:t>
        <a:bodyPr/>
        <a:lstStyle/>
        <a:p>
          <a:r>
            <a:rPr lang="en-US" b="1" dirty="0">
              <a:solidFill>
                <a:schemeClr val="tx1"/>
              </a:solidFill>
              <a:latin typeface="+mj-lt"/>
            </a:rPr>
            <a:t>	</a:t>
          </a:r>
          <a:endParaRPr lang="en-US" dirty="0">
            <a:solidFill>
              <a:schemeClr val="tx1"/>
            </a:solidFill>
          </a:endParaRPr>
        </a:p>
      </dgm:t>
    </dgm:pt>
    <dgm:pt modelId="{92849844-D950-2F42-A752-3A803EDC920F}" type="parTrans" cxnId="{51DB3F36-B230-E142-AFA0-2ACC99B0A6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83B72C3-BBFA-E64F-98AB-35888DD02D0A}" type="sibTrans" cxnId="{51DB3F36-B230-E142-AFA0-2ACC99B0A6DB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7EBF4E8-D701-8141-B7F6-B395E0C9829C}" type="pres">
      <dgm:prSet presAssocID="{4FB8FE1D-F4F7-3F40-8BF1-3AE57670B6AB}" presName="compositeShape" presStyleCnt="0">
        <dgm:presLayoutVars>
          <dgm:chMax val="9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B5B1F20-7FC3-3647-85F9-18C051C7166B}" type="pres">
      <dgm:prSet presAssocID="{4FB8FE1D-F4F7-3F40-8BF1-3AE57670B6AB}" presName="triangle1" presStyleLbl="node1" presStyleIdx="0" presStyleCnt="1" custFlipVert="1" custScaleX="134147" custLinFactNeighborX="-1284" custLinFactNeighborY="64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7A07773-A53A-7845-80DB-61C605415F02}" type="presOf" srcId="{4FB8FE1D-F4F7-3F40-8BF1-3AE57670B6AB}" destId="{B7EBF4E8-D701-8141-B7F6-B395E0C9829C}" srcOrd="0" destOrd="0" presId="urn:microsoft.com/office/officeart/2005/8/layout/pyramid4"/>
    <dgm:cxn modelId="{51DB3F36-B230-E142-AFA0-2ACC99B0A6DB}" srcId="{4FB8FE1D-F4F7-3F40-8BF1-3AE57670B6AB}" destId="{43ED35FE-2837-1045-BFCB-588EEA15EBAF}" srcOrd="0" destOrd="0" parTransId="{92849844-D950-2F42-A752-3A803EDC920F}" sibTransId="{583B72C3-BBFA-E64F-98AB-35888DD02D0A}"/>
    <dgm:cxn modelId="{E5143A8E-F06C-944E-B7E7-BB4D26DF5E25}" type="presOf" srcId="{43ED35FE-2837-1045-BFCB-588EEA15EBAF}" destId="{CB5B1F20-7FC3-3647-85F9-18C051C7166B}" srcOrd="0" destOrd="0" presId="urn:microsoft.com/office/officeart/2005/8/layout/pyramid4"/>
    <dgm:cxn modelId="{DC1769A8-3306-764B-8F4F-8BFF0CF7C90C}" type="presParOf" srcId="{B7EBF4E8-D701-8141-B7F6-B395E0C9829C}" destId="{CB5B1F20-7FC3-3647-85F9-18C051C7166B}" srcOrd="0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CFACAF-D04D-C540-B4A0-F24F1E9D9591}" type="doc">
      <dgm:prSet loTypeId="urn:microsoft.com/office/officeart/2005/8/layout/cycle3" loCatId="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55DA9CB-2E95-FB40-A134-865CE7E554F5}">
      <dgm:prSet phldrT="[Text]" custT="1"/>
      <dgm:spPr>
        <a:solidFill>
          <a:srgbClr val="1F497D"/>
        </a:solidFill>
        <a:ln w="76200" cmpd="sng">
          <a:solidFill>
            <a:srgbClr val="000000"/>
          </a:solidFill>
        </a:ln>
      </dgm:spPr>
      <dgm:t>
        <a:bodyPr/>
        <a:lstStyle/>
        <a:p>
          <a:r>
            <a:rPr lang="en-US" sz="2400" b="1" i="0" dirty="0">
              <a:solidFill>
                <a:srgbClr val="FFFFFF"/>
              </a:solidFill>
            </a:rPr>
            <a:t>Use developmentally matched BEHAVORAL SUPPORTS</a:t>
          </a:r>
          <a:r>
            <a:rPr lang="en-US" sz="1600" b="1" i="0" dirty="0">
              <a:solidFill>
                <a:srgbClr val="FFFFFF"/>
              </a:solidFill>
            </a:rPr>
            <a:t>. </a:t>
          </a:r>
        </a:p>
      </dgm:t>
    </dgm:pt>
    <dgm:pt modelId="{8FEE930A-547D-0F4B-BAA3-83AF472492DD}" type="parTrans" cxnId="{52430A11-CFBD-F346-848E-513BB530CD89}">
      <dgm:prSet/>
      <dgm:spPr/>
      <dgm:t>
        <a:bodyPr/>
        <a:lstStyle/>
        <a:p>
          <a:endParaRPr lang="en-US"/>
        </a:p>
      </dgm:t>
    </dgm:pt>
    <dgm:pt modelId="{DF6716EC-2FDD-6E42-8693-74DE23A7C367}" type="sibTrans" cxnId="{52430A11-CFBD-F346-848E-513BB530CD89}">
      <dgm:prSet/>
      <dgm:spPr/>
      <dgm:t>
        <a:bodyPr/>
        <a:lstStyle/>
        <a:p>
          <a:endParaRPr lang="en-US"/>
        </a:p>
      </dgm:t>
    </dgm:pt>
    <dgm:pt modelId="{8BE00F7F-573D-2A49-B136-1E1A0CE032A4}">
      <dgm:prSet phldrT="[Text]" custT="1"/>
      <dgm:spPr>
        <a:solidFill>
          <a:srgbClr val="1F497D"/>
        </a:solidFill>
        <a:ln w="76200" cmpd="sng">
          <a:solidFill>
            <a:schemeClr val="tx1"/>
          </a:solidFill>
        </a:ln>
      </dgm:spPr>
      <dgm:t>
        <a:bodyPr/>
        <a:lstStyle/>
        <a:p>
          <a:r>
            <a:rPr lang="en-US" sz="2400" b="1" i="0" dirty="0">
              <a:solidFill>
                <a:srgbClr val="FFFFFF"/>
              </a:solidFill>
            </a:rPr>
            <a:t>TEACH for competencies.</a:t>
          </a:r>
          <a:endParaRPr lang="en-US" sz="2400" b="1" i="0" dirty="0">
            <a:solidFill>
              <a:schemeClr val="tx1"/>
            </a:solidFill>
          </a:endParaRPr>
        </a:p>
      </dgm:t>
    </dgm:pt>
    <dgm:pt modelId="{B28BE00B-AE3A-4A47-986A-4A672ECB79CB}" type="parTrans" cxnId="{25C12291-5137-BF48-948F-98F77D9DF083}">
      <dgm:prSet/>
      <dgm:spPr/>
      <dgm:t>
        <a:bodyPr/>
        <a:lstStyle/>
        <a:p>
          <a:endParaRPr lang="en-US"/>
        </a:p>
      </dgm:t>
    </dgm:pt>
    <dgm:pt modelId="{E85A8837-E477-5742-861E-ECAB52643765}" type="sibTrans" cxnId="{25C12291-5137-BF48-948F-98F77D9DF083}">
      <dgm:prSet/>
      <dgm:spPr/>
      <dgm:t>
        <a:bodyPr/>
        <a:lstStyle/>
        <a:p>
          <a:endParaRPr lang="en-US"/>
        </a:p>
      </dgm:t>
    </dgm:pt>
    <dgm:pt modelId="{A4832EC1-7C12-DD42-BA6D-797794CC5ABE}">
      <dgm:prSet phldrT="[Text]" custT="1"/>
      <dgm:spPr>
        <a:solidFill>
          <a:srgbClr val="8E1E2D"/>
        </a:solidFill>
      </dgm:spPr>
      <dgm:t>
        <a:bodyPr/>
        <a:lstStyle/>
        <a:p>
          <a:r>
            <a:rPr lang="en-US" sz="2400" b="1" i="0" dirty="0">
              <a:solidFill>
                <a:srgbClr val="FFFFFF"/>
              </a:solidFill>
            </a:rPr>
            <a:t>REPEAT process at each rating period</a:t>
          </a:r>
          <a:r>
            <a:rPr lang="en-US" sz="2400" b="1" i="0" dirty="0">
              <a:solidFill>
                <a:schemeClr val="tx1"/>
              </a:solidFill>
            </a:rPr>
            <a:t>.</a:t>
          </a:r>
        </a:p>
      </dgm:t>
    </dgm:pt>
    <dgm:pt modelId="{9E10E220-62C1-4A45-A977-507BABAFD13F}" type="parTrans" cxnId="{10987831-EB31-C04D-A5E2-AD8302FDE8B1}">
      <dgm:prSet/>
      <dgm:spPr/>
      <dgm:t>
        <a:bodyPr/>
        <a:lstStyle/>
        <a:p>
          <a:endParaRPr lang="en-US"/>
        </a:p>
      </dgm:t>
    </dgm:pt>
    <dgm:pt modelId="{EF511F72-24F9-DB4F-A6C8-F0494BBE9F82}" type="sibTrans" cxnId="{10987831-EB31-C04D-A5E2-AD8302FDE8B1}">
      <dgm:prSet/>
      <dgm:spPr/>
      <dgm:t>
        <a:bodyPr/>
        <a:lstStyle/>
        <a:p>
          <a:endParaRPr lang="en-US"/>
        </a:p>
      </dgm:t>
    </dgm:pt>
    <dgm:pt modelId="{215A1892-90FA-8046-9485-A845AD41EB36}">
      <dgm:prSet custT="1"/>
      <dgm:spPr>
        <a:solidFill>
          <a:srgbClr val="1F497D"/>
        </a:solidFill>
      </dgm:spPr>
      <dgm:t>
        <a:bodyPr/>
        <a:lstStyle/>
        <a:p>
          <a:r>
            <a:rPr lang="en-US" sz="2400" b="1" i="0" dirty="0">
              <a:solidFill>
                <a:srgbClr val="FFFFFF"/>
              </a:solidFill>
            </a:rPr>
            <a:t>Design ACTIVITIES,  MATERIALS, CONTENT to achieve competencies.</a:t>
          </a:r>
        </a:p>
      </dgm:t>
    </dgm:pt>
    <dgm:pt modelId="{CB558D6F-CEAD-A74D-A3B3-627457B1D640}" type="parTrans" cxnId="{EE25138A-0693-EA4B-8FA1-B67030A2AC80}">
      <dgm:prSet/>
      <dgm:spPr/>
      <dgm:t>
        <a:bodyPr/>
        <a:lstStyle/>
        <a:p>
          <a:endParaRPr lang="en-US"/>
        </a:p>
      </dgm:t>
    </dgm:pt>
    <dgm:pt modelId="{BD0F84D6-C1D7-8F44-B7A0-F116FC3C82EA}" type="sibTrans" cxnId="{EE25138A-0693-EA4B-8FA1-B67030A2AC80}">
      <dgm:prSet/>
      <dgm:spPr/>
      <dgm:t>
        <a:bodyPr/>
        <a:lstStyle/>
        <a:p>
          <a:endParaRPr lang="en-US"/>
        </a:p>
      </dgm:t>
    </dgm:pt>
    <dgm:pt modelId="{B7D57163-F94E-3E49-B1A4-44F44E7ADF60}">
      <dgm:prSet phldrT="[Text]" custT="1"/>
      <dgm:spPr>
        <a:solidFill>
          <a:srgbClr val="8E1E2D"/>
        </a:solidFill>
      </dgm:spPr>
      <dgm:t>
        <a:bodyPr/>
        <a:lstStyle/>
        <a:p>
          <a:r>
            <a:rPr lang="en-US" sz="2400" b="1" i="0" dirty="0">
              <a:solidFill>
                <a:srgbClr val="FFFFFF"/>
              </a:solidFill>
            </a:rPr>
            <a:t>Repeat DTORF-R rating:</a:t>
          </a:r>
        </a:p>
        <a:p>
          <a:r>
            <a:rPr lang="en-US" sz="2400" b="1" i="0" dirty="0">
              <a:solidFill>
                <a:schemeClr val="bg1"/>
              </a:solidFill>
            </a:rPr>
            <a:t>Competencies Achieved?</a:t>
          </a:r>
        </a:p>
      </dgm:t>
    </dgm:pt>
    <dgm:pt modelId="{E2922FF6-4F68-B344-8F9E-45C45716A27E}" type="parTrans" cxnId="{64E9E9D6-A095-3641-AF59-64D34FC169E0}">
      <dgm:prSet/>
      <dgm:spPr/>
      <dgm:t>
        <a:bodyPr/>
        <a:lstStyle/>
        <a:p>
          <a:endParaRPr lang="en-US"/>
        </a:p>
      </dgm:t>
    </dgm:pt>
    <dgm:pt modelId="{34DD3A19-561B-2841-B337-08CE40135353}" type="sibTrans" cxnId="{64E9E9D6-A095-3641-AF59-64D34FC169E0}">
      <dgm:prSet/>
      <dgm:spPr/>
      <dgm:t>
        <a:bodyPr/>
        <a:lstStyle/>
        <a:p>
          <a:endParaRPr lang="en-US"/>
        </a:p>
      </dgm:t>
    </dgm:pt>
    <dgm:pt modelId="{0B506153-C00E-554F-BBB9-474AD71D0609}" type="pres">
      <dgm:prSet presAssocID="{04CFACAF-D04D-C540-B4A0-F24F1E9D9591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DA44F6F-266F-094C-927A-3B3B94239058}" type="pres">
      <dgm:prSet presAssocID="{04CFACAF-D04D-C540-B4A0-F24F1E9D9591}" presName="cycle" presStyleCnt="0"/>
      <dgm:spPr/>
    </dgm:pt>
    <dgm:pt modelId="{1106469F-90BC-294D-A2E8-91AD934DF545}" type="pres">
      <dgm:prSet presAssocID="{215A1892-90FA-8046-9485-A845AD41EB36}" presName="nodeFirstNode" presStyleLbl="node1" presStyleIdx="0" presStyleCnt="5" custScaleX="103797" custScaleY="150222" custRadScaleRad="117132" custRadScaleInc="1082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157424-7441-CF4D-92D8-1691965ED336}" type="pres">
      <dgm:prSet presAssocID="{BD0F84D6-C1D7-8F44-B7A0-F116FC3C82EA}" presName="sibTransFirstNode" presStyleLbl="bgShp" presStyleIdx="0" presStyleCnt="1" custAng="21192156" custFlipVert="1" custFlipHor="0" custScaleX="13129" custScaleY="684" custLinFactNeighborX="-45410" custLinFactNeighborY="-34387"/>
      <dgm:spPr/>
      <dgm:t>
        <a:bodyPr/>
        <a:lstStyle/>
        <a:p>
          <a:endParaRPr lang="en-US"/>
        </a:p>
      </dgm:t>
    </dgm:pt>
    <dgm:pt modelId="{521590C7-A626-8148-8237-1C951A0C5C99}" type="pres">
      <dgm:prSet presAssocID="{C55DA9CB-2E95-FB40-A134-865CE7E554F5}" presName="nodeFollowingNodes" presStyleLbl="node1" presStyleIdx="1" presStyleCnt="5" custFlipVert="0" custScaleX="102748" custScaleY="106661" custRadScaleRad="121529" custRadScaleInc="6744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A449F4-D7A7-ED44-B7FE-09D5729CA416}" type="pres">
      <dgm:prSet presAssocID="{8BE00F7F-573D-2A49-B136-1E1A0CE032A4}" presName="nodeFollowingNodes" presStyleLbl="node1" presStyleIdx="2" presStyleCnt="5" custScaleX="88387" custScaleY="102831" custRadScaleRad="49533" custRadScaleInc="7634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012663-3F45-E44B-96A8-F5DCF8719F5A}" type="pres">
      <dgm:prSet presAssocID="{A4832EC1-7C12-DD42-BA6D-797794CC5ABE}" presName="nodeFollowingNodes" presStyleLbl="node1" presStyleIdx="3" presStyleCnt="5" custScaleX="55096" custScaleY="122063" custRadScaleRad="27696" custRadScaleInc="2063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3814A2-92FB-D249-9765-37E4B6DF656B}" type="pres">
      <dgm:prSet presAssocID="{B7D57163-F94E-3E49-B1A4-44F44E7ADF60}" presName="nodeFollowingNodes" presStyleLbl="node1" presStyleIdx="4" presStyleCnt="5" custScaleX="69878" custScaleY="154885" custRadScaleRad="126107" custRadScaleInc="-727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D556E2E-77F6-084E-8713-C6B764DD1B3B}" type="presOf" srcId="{A4832EC1-7C12-DD42-BA6D-797794CC5ABE}" destId="{91012663-3F45-E44B-96A8-F5DCF8719F5A}" srcOrd="0" destOrd="0" presId="urn:microsoft.com/office/officeart/2005/8/layout/cycle3"/>
    <dgm:cxn modelId="{F5B7E6E7-BFBC-174A-A83E-8AA0E2958D65}" type="presOf" srcId="{B7D57163-F94E-3E49-B1A4-44F44E7ADF60}" destId="{553814A2-92FB-D249-9765-37E4B6DF656B}" srcOrd="0" destOrd="0" presId="urn:microsoft.com/office/officeart/2005/8/layout/cycle3"/>
    <dgm:cxn modelId="{25C12291-5137-BF48-948F-98F77D9DF083}" srcId="{04CFACAF-D04D-C540-B4A0-F24F1E9D9591}" destId="{8BE00F7F-573D-2A49-B136-1E1A0CE032A4}" srcOrd="2" destOrd="0" parTransId="{B28BE00B-AE3A-4A47-986A-4A672ECB79CB}" sibTransId="{E85A8837-E477-5742-861E-ECAB52643765}"/>
    <dgm:cxn modelId="{64E9E9D6-A095-3641-AF59-64D34FC169E0}" srcId="{04CFACAF-D04D-C540-B4A0-F24F1E9D9591}" destId="{B7D57163-F94E-3E49-B1A4-44F44E7ADF60}" srcOrd="4" destOrd="0" parTransId="{E2922FF6-4F68-B344-8F9E-45C45716A27E}" sibTransId="{34DD3A19-561B-2841-B337-08CE40135353}"/>
    <dgm:cxn modelId="{10987831-EB31-C04D-A5E2-AD8302FDE8B1}" srcId="{04CFACAF-D04D-C540-B4A0-F24F1E9D9591}" destId="{A4832EC1-7C12-DD42-BA6D-797794CC5ABE}" srcOrd="3" destOrd="0" parTransId="{9E10E220-62C1-4A45-A977-507BABAFD13F}" sibTransId="{EF511F72-24F9-DB4F-A6C8-F0494BBE9F82}"/>
    <dgm:cxn modelId="{D0D07996-823B-CA4C-B1A6-DFE33ECECBFC}" type="presOf" srcId="{BD0F84D6-C1D7-8F44-B7A0-F116FC3C82EA}" destId="{E5157424-7441-CF4D-92D8-1691965ED336}" srcOrd="0" destOrd="0" presId="urn:microsoft.com/office/officeart/2005/8/layout/cycle3"/>
    <dgm:cxn modelId="{52430A11-CFBD-F346-848E-513BB530CD89}" srcId="{04CFACAF-D04D-C540-B4A0-F24F1E9D9591}" destId="{C55DA9CB-2E95-FB40-A134-865CE7E554F5}" srcOrd="1" destOrd="0" parTransId="{8FEE930A-547D-0F4B-BAA3-83AF472492DD}" sibTransId="{DF6716EC-2FDD-6E42-8693-74DE23A7C367}"/>
    <dgm:cxn modelId="{BF3A859F-9217-7C4A-96DC-A26261B118F6}" type="presOf" srcId="{215A1892-90FA-8046-9485-A845AD41EB36}" destId="{1106469F-90BC-294D-A2E8-91AD934DF545}" srcOrd="0" destOrd="0" presId="urn:microsoft.com/office/officeart/2005/8/layout/cycle3"/>
    <dgm:cxn modelId="{AB154E71-E52E-8A4D-9FBF-919AC3FB34C6}" type="presOf" srcId="{C55DA9CB-2E95-FB40-A134-865CE7E554F5}" destId="{521590C7-A626-8148-8237-1C951A0C5C99}" srcOrd="0" destOrd="0" presId="urn:microsoft.com/office/officeart/2005/8/layout/cycle3"/>
    <dgm:cxn modelId="{EE25138A-0693-EA4B-8FA1-B67030A2AC80}" srcId="{04CFACAF-D04D-C540-B4A0-F24F1E9D9591}" destId="{215A1892-90FA-8046-9485-A845AD41EB36}" srcOrd="0" destOrd="0" parTransId="{CB558D6F-CEAD-A74D-A3B3-627457B1D640}" sibTransId="{BD0F84D6-C1D7-8F44-B7A0-F116FC3C82EA}"/>
    <dgm:cxn modelId="{4D12767E-5B10-D543-85FB-544CDC6285D4}" type="presOf" srcId="{04CFACAF-D04D-C540-B4A0-F24F1E9D9591}" destId="{0B506153-C00E-554F-BBB9-474AD71D0609}" srcOrd="0" destOrd="0" presId="urn:microsoft.com/office/officeart/2005/8/layout/cycle3"/>
    <dgm:cxn modelId="{6C093088-0AFA-244A-8CC2-01DDF5F75C71}" type="presOf" srcId="{8BE00F7F-573D-2A49-B136-1E1A0CE032A4}" destId="{0BA449F4-D7A7-ED44-B7FE-09D5729CA416}" srcOrd="0" destOrd="0" presId="urn:microsoft.com/office/officeart/2005/8/layout/cycle3"/>
    <dgm:cxn modelId="{01B9BEA2-F912-C248-B7E9-F386F03B16F5}" type="presParOf" srcId="{0B506153-C00E-554F-BBB9-474AD71D0609}" destId="{3DA44F6F-266F-094C-927A-3B3B94239058}" srcOrd="0" destOrd="0" presId="urn:microsoft.com/office/officeart/2005/8/layout/cycle3"/>
    <dgm:cxn modelId="{D469626B-255E-7C4D-910D-61DF89874BF9}" type="presParOf" srcId="{3DA44F6F-266F-094C-927A-3B3B94239058}" destId="{1106469F-90BC-294D-A2E8-91AD934DF545}" srcOrd="0" destOrd="0" presId="urn:microsoft.com/office/officeart/2005/8/layout/cycle3"/>
    <dgm:cxn modelId="{935BF811-2DBD-CF4D-AAAC-1A3F70483093}" type="presParOf" srcId="{3DA44F6F-266F-094C-927A-3B3B94239058}" destId="{E5157424-7441-CF4D-92D8-1691965ED336}" srcOrd="1" destOrd="0" presId="urn:microsoft.com/office/officeart/2005/8/layout/cycle3"/>
    <dgm:cxn modelId="{88658166-B232-3D4E-943F-F519734F82D9}" type="presParOf" srcId="{3DA44F6F-266F-094C-927A-3B3B94239058}" destId="{521590C7-A626-8148-8237-1C951A0C5C99}" srcOrd="2" destOrd="0" presId="urn:microsoft.com/office/officeart/2005/8/layout/cycle3"/>
    <dgm:cxn modelId="{8CB1FA37-1AD5-AC4C-BF5C-C2150D7679D6}" type="presParOf" srcId="{3DA44F6F-266F-094C-927A-3B3B94239058}" destId="{0BA449F4-D7A7-ED44-B7FE-09D5729CA416}" srcOrd="3" destOrd="0" presId="urn:microsoft.com/office/officeart/2005/8/layout/cycle3"/>
    <dgm:cxn modelId="{12DB178A-3476-A64C-8048-97E5CA248395}" type="presParOf" srcId="{3DA44F6F-266F-094C-927A-3B3B94239058}" destId="{91012663-3F45-E44B-96A8-F5DCF8719F5A}" srcOrd="4" destOrd="0" presId="urn:microsoft.com/office/officeart/2005/8/layout/cycle3"/>
    <dgm:cxn modelId="{1558C44A-7C74-BE4C-A1BB-6CA9A64910C8}" type="presParOf" srcId="{3DA44F6F-266F-094C-927A-3B3B94239058}" destId="{553814A2-92FB-D249-9765-37E4B6DF656B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2BD70-B36C-6C43-9FA5-ABE6228D4707}" type="datetimeFigureOut">
              <a:rPr lang="en-US" smtClean="0"/>
              <a:t>2/22/2018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E5CD8-5DCF-294F-8173-643BB70E88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56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E5D2B-4296-3A45-8A24-06577B85BDD6}" type="datetimeFigureOut">
              <a:rPr lang="en-US" smtClean="0"/>
              <a:t>2/22/2018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104BD-2E8B-4048-9084-9DBE82407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937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B687CA-6535-BE47-9C7A-027606D458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47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63710D-6F8B-D142-817A-1ED5D3954F6D}" type="slidenum">
              <a:rPr lang="en-US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050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1600" b="1" dirty="0"/>
              <a:t>Refer to handout #1 for a summary of these DTT foundation beliefs.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6104BD-2E8B-4048-9084-9DBE824074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16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63710D-6F8B-D142-817A-1ED5D3954F6D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512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63710D-6F8B-D142-817A-1ED5D3954F6D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512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B687CA-6535-BE47-9C7A-027606D458A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413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800" dirty="0"/>
              <a:t>Refer to Handout #2, DTT Goals and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6104BD-2E8B-4048-9084-9DBE824074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6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20884" indent="-2772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09053" indent="-221811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552674" indent="-221811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96295" indent="-221811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39916" indent="-221811" defTabSz="4436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83538" indent="-221811" defTabSz="4436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27159" indent="-221811" defTabSz="4436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0780" indent="-221811" defTabSz="4436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77D6167-7B64-43D2-8815-5D0112E3BD5F}" type="slidenum">
              <a:rPr lang="en-US" altLang="en-US">
                <a:latin typeface="Calibri" panose="020F0502020204030204" pitchFamily="34" charset="0"/>
              </a:rPr>
              <a:pPr eaLnBrk="1" hangingPunct="1"/>
              <a:t>15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465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871" indent="-285719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2879" indent="-228576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031" indent="-228576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183" indent="-228576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334" indent="-228576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486" indent="-228576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8638" indent="-228576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5789" indent="-228576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CD10B01-1D25-2743-A9A7-7E7F9A7E0670}" type="slidenum">
              <a:rPr lang="en-US" sz="1200">
                <a:latin typeface="Times" charset="0"/>
              </a:rPr>
              <a:pPr/>
              <a:t>28</a:t>
            </a:fld>
            <a:endParaRPr lang="en-US" sz="1200" dirty="0">
              <a:latin typeface="Times" charset="0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513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B687CA-6535-BE47-9C7A-027606D458AE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591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bg1"/>
                </a:solidFill>
              </a:rPr>
              <a:t>A simple pre-post comparison (108 to 117) gain of 9 items in 7 months (about 1 competency + per month).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bg1"/>
                </a:solidFill>
              </a:rPr>
              <a:t>With 84% post- comparison, Tony made gains against the baseline of 79%  [90% + would be expected age level].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chemeClr val="bg1"/>
                </a:solidFill>
              </a:rPr>
              <a:t>Multiply pre-intervention rate of item mastery (.7883) by 7 months to second rating (5.5181) and add to baseline score (108  + 6 =115) </a:t>
            </a:r>
            <a:r>
              <a:rPr lang="en-US" sz="1100" b="1" dirty="0">
                <a:solidFill>
                  <a:schemeClr val="bg1"/>
                </a:solidFill>
              </a:rPr>
              <a:t>predicted score without intervention.</a:t>
            </a:r>
            <a:endParaRPr lang="en-US" sz="1100" b="1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bg1"/>
              </a:solidFill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46069C-6652-F540-9C88-49CB5839398C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572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B687CA-6535-BE47-9C7A-027606D458AE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49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B687CA-6535-BE47-9C7A-027606D458AE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591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72A16-70F6-894B-85B9-34C986E91511}" type="datetime1">
              <a:rPr lang="en-US" smtClean="0"/>
              <a:t>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71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00FEF-7D81-9543-84BE-B55C41EE4341}" type="datetime1">
              <a:rPr lang="en-US" smtClean="0"/>
              <a:t>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AA59D-A62C-E246-B02E-D63BDF0815F5}" type="datetime1">
              <a:rPr lang="en-US" smtClean="0"/>
              <a:t>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4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B498A-8A11-774E-97B9-12F3560B3EBD}" type="datetime1">
              <a:rPr lang="en-US" smtClean="0"/>
              <a:t>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70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29BC5-224C-2644-A865-64DC113C878E}" type="datetime1">
              <a:rPr lang="en-US" smtClean="0"/>
              <a:t>2/22/2018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4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CBE59-CDEA-3247-A8E3-ADEF582F0613}" type="datetime1">
              <a:rPr lang="en-US" smtClean="0"/>
              <a:t>2/22/2018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8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41F84-AE8A-CE48-8DFD-085E9B108D73}" type="datetime1">
              <a:rPr lang="en-US" smtClean="0"/>
              <a:t>2/22/2018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9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C0BC2-0882-5446-9DD0-35239B3EF242}" type="datetime1">
              <a:rPr lang="en-US" smtClean="0"/>
              <a:t>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1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CB194-D84F-E147-A30F-E7F071719512}" type="datetime1">
              <a:rPr lang="en-US" smtClean="0"/>
              <a:t>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29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C17A-AABB-B548-9DB4-64D7C9791901}" type="datetime1">
              <a:rPr lang="en-US" smtClean="0"/>
              <a:t>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11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C17A-AABB-B548-9DB4-64D7C9791901}" type="datetime1">
              <a:rPr lang="en-US" smtClean="0"/>
              <a:t>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64652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C17A-AABB-B548-9DB4-64D7C9791901}" type="datetime1">
              <a:rPr lang="en-US" smtClean="0"/>
              <a:t>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34761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C17A-AABB-B548-9DB4-64D7C9791901}" type="datetime1">
              <a:rPr lang="en-US" smtClean="0"/>
              <a:t>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21504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4C17A-AABB-B548-9DB4-64D7C9791901}" type="datetime1">
              <a:rPr lang="en-US" smtClean="0"/>
              <a:t>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767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ECF5F-EB36-AF41-BB0D-2C026255ECA2}" type="datetime1">
              <a:rPr lang="en-US" smtClean="0"/>
              <a:t>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73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DA532-F7B1-E245-A233-B385ABE2FE67}" type="datetime1">
              <a:rPr lang="en-US" smtClean="0"/>
              <a:t>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19E0E-D239-B84E-80FF-B830632C2E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5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3520C-2D1B-3E41-87EC-ADA4771E7E8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2/22/2018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8A19E0E-D239-B84E-80FF-B830632C2EC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521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Document1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.png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Document2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018872"/>
            <a:ext cx="9144001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   An Introduction to Developmental Therapy-Teaching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0779" y="3188088"/>
            <a:ext cx="62455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800" b="1" dirty="0">
              <a:solidFill>
                <a:schemeClr val="tx2"/>
              </a:solidFill>
              <a:latin typeface="Didot"/>
              <a:cs typeface="Didot"/>
            </a:endParaRPr>
          </a:p>
          <a:p>
            <a:endParaRPr lang="en-US" sz="800" b="1" dirty="0">
              <a:solidFill>
                <a:schemeClr val="tx2"/>
              </a:solidFill>
              <a:latin typeface="Didot"/>
              <a:cs typeface="Didot"/>
            </a:endParaRPr>
          </a:p>
          <a:p>
            <a:endParaRPr 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Developmental Therapy Institute, Inc.</a:t>
            </a:r>
          </a:p>
          <a:p>
            <a:pPr algn="ctr"/>
            <a:endParaRPr lang="en-US" sz="2400" b="1" dirty="0">
              <a:solidFill>
                <a:schemeClr val="tx2"/>
              </a:solidFill>
              <a:latin typeface="Didot"/>
              <a:cs typeface="Didot"/>
            </a:endParaRPr>
          </a:p>
          <a:p>
            <a:endParaRPr lang="en-US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www.developmentaltherapyinstitute.org</a:t>
            </a:r>
          </a:p>
          <a:p>
            <a:r>
              <a:rPr lang="en-US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dti@developmentaltherapyinstitute.org</a:t>
            </a:r>
            <a:endParaRPr lang="en-US" b="1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400" b="1" dirty="0">
              <a:solidFill>
                <a:schemeClr val="tx2"/>
              </a:solidFill>
              <a:latin typeface="Didot"/>
              <a:cs typeface="Didot"/>
            </a:endParaRPr>
          </a:p>
          <a:p>
            <a:pPr algn="ctr"/>
            <a:r>
              <a:rPr lang="en-US" b="1" dirty="0">
                <a:solidFill>
                  <a:schemeClr val="tx2"/>
                </a:solidFill>
                <a:latin typeface="Didot"/>
                <a:cs typeface="Dido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470" y="6180667"/>
            <a:ext cx="9083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dirty="0"/>
          </a:p>
          <a:p>
            <a:pPr algn="ctr"/>
            <a:r>
              <a:rPr lang="en-US" sz="1000" dirty="0"/>
              <a:t>©  2017, Content of slides 1–41, Developmental Therapy Institute, Inc.</a:t>
            </a:r>
            <a:br>
              <a:rPr lang="en-US" sz="1000" dirty="0"/>
            </a:br>
            <a:r>
              <a:rPr lang="en-US" sz="1000" dirty="0"/>
              <a:t>For authorization to use all or part of this PowerPoint presentation, contact the Developmental Therapy Institute.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9952C17-C592-4D85-83FE-7C516E63DC1D}"/>
              </a:ext>
            </a:extLst>
          </p:cNvPr>
          <p:cNvSpPr txBox="1"/>
          <p:nvPr/>
        </p:nvSpPr>
        <p:spPr>
          <a:xfrm>
            <a:off x="156633" y="632178"/>
            <a:ext cx="84906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Think Developmentally!</a:t>
            </a:r>
            <a:endParaRPr lang="en-US" sz="12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Linking Classroom Practice to Social Emotional Learning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86A9C6E-A042-41AA-A41A-271088107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69" y="3188088"/>
            <a:ext cx="1700583" cy="170058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E9D41795-7CCD-4F15-B3E5-374F1A420800}"/>
              </a:ext>
            </a:extLst>
          </p:cNvPr>
          <p:cNvCxnSpPr/>
          <p:nvPr/>
        </p:nvCxnSpPr>
        <p:spPr>
          <a:xfrm>
            <a:off x="1998552" y="4315909"/>
            <a:ext cx="6163315" cy="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B8F2831-A401-446D-BF5A-4379ED0A5E9E}"/>
              </a:ext>
            </a:extLst>
          </p:cNvPr>
          <p:cNvSpPr/>
          <p:nvPr/>
        </p:nvSpPr>
        <p:spPr>
          <a:xfrm>
            <a:off x="2130779" y="2641875"/>
            <a:ext cx="42144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Didot"/>
              </a:rPr>
              <a:t>Assessment,  Achievement, Accountability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28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WordArt 3"/>
          <p:cNvSpPr>
            <a:spLocks noChangeArrowheads="1" noChangeShapeType="1" noTextEdit="1"/>
          </p:cNvSpPr>
          <p:nvPr/>
        </p:nvSpPr>
        <p:spPr bwMode="auto">
          <a:xfrm>
            <a:off x="740833" y="1227667"/>
            <a:ext cx="8170334" cy="1895543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 cap="sq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fromWordArt="1">
            <a:prstTxWarp prst="textWave1">
              <a:avLst>
                <a:gd name="adj1" fmla="val 13005"/>
                <a:gd name="adj2" fmla="val -1114"/>
              </a:avLst>
            </a:prstTxWarp>
          </a:bodyPr>
          <a:lstStyle/>
          <a:p>
            <a:pPr algn="ctr">
              <a:defRPr/>
            </a:pPr>
            <a:endParaRPr lang="en-US" sz="3600" b="1" kern="10" dirty="0">
              <a:solidFill>
                <a:srgbClr val="1F497D">
                  <a:lumMod val="75000"/>
                </a:srgbClr>
              </a:solidFill>
              <a:effectLst>
                <a:outerShdw blurRad="63500" dist="53882" dir="2700000" algn="ctr" rotWithShape="0">
                  <a:srgbClr val="C0C0C0">
                    <a:alpha val="74998"/>
                  </a:srgbClr>
                </a:outerShdw>
              </a:effectLst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422525" y="21939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dirty="0">
              <a:solidFill>
                <a:prstClr val="black"/>
              </a:solidFill>
              <a:latin typeface="Times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1427646"/>
            <a:ext cx="9144000" cy="2769989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Four basic beliefs emphasize every student’s capability to learn success-producing behavior!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A9DCD6E-CB89-423A-883A-49303422F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84" y="5844210"/>
            <a:ext cx="795786" cy="78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19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45066"/>
            <a:ext cx="9144000" cy="1309511"/>
          </a:xfrm>
          <a:solidFill>
            <a:srgbClr val="1F497D"/>
          </a:solidFill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Beliefs about Teaching and Learning that Guide DTT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276" y="2332038"/>
            <a:ext cx="6520968" cy="3267251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  <a:defRPr/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Focus on Strengths</a:t>
            </a: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 Developmental Guidelines</a:t>
            </a: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Provide Pleasure and Success</a:t>
            </a: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 Experiences Relevant</a:t>
            </a:r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C859B39-42E8-4509-B660-9FCA573EF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5731341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422525" y="21939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dirty="0">
              <a:latin typeface="Times" charset="0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" y="2624812"/>
            <a:ext cx="9144000" cy="2000548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every age and stage of development,</a:t>
            </a:r>
          </a:p>
          <a:p>
            <a:pPr algn="ctr"/>
            <a:r>
              <a:rPr lang="en-US" sz="36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social-emotional and behavioral changes are occurring.</a:t>
            </a:r>
          </a:p>
          <a:p>
            <a:pPr algn="ctr"/>
            <a:endParaRPr 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-168964" y="149727"/>
            <a:ext cx="836874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Developmental Therapy-Teaching (DTT)</a:t>
            </a:r>
          </a:p>
          <a:p>
            <a:pPr algn="ctr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applies these beliefs to social-emotional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637729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>
              <a:latin typeface="+mj-lt"/>
            </a:endParaRPr>
          </a:p>
          <a:p>
            <a:pPr algn="ctr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DTT Guides this process to positive outcomes </a:t>
            </a:r>
          </a:p>
          <a:p>
            <a:pPr algn="ctr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for all children.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7C26982-D785-49EF-88FA-546344DD9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5731341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5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WordArt 3"/>
          <p:cNvSpPr>
            <a:spLocks noChangeArrowheads="1" noChangeShapeType="1" noTextEdit="1"/>
          </p:cNvSpPr>
          <p:nvPr/>
        </p:nvSpPr>
        <p:spPr bwMode="auto">
          <a:xfrm rot="10587109" flipH="1" flipV="1">
            <a:off x="868215" y="1336359"/>
            <a:ext cx="7407567" cy="1688628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 cap="sq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fromWordArt="1">
            <a:prstTxWarp prst="textWave1">
              <a:avLst>
                <a:gd name="adj1" fmla="val 9276"/>
                <a:gd name="adj2" fmla="val -1062"/>
              </a:avLst>
            </a:prstTxWarp>
          </a:bodyPr>
          <a:lstStyle/>
          <a:p>
            <a:pPr algn="ctr">
              <a:defRPr/>
            </a:pPr>
            <a:r>
              <a:rPr lang="en-US" b="1" kern="10" dirty="0">
                <a:solidFill>
                  <a:srgbClr val="1F497D">
                    <a:lumMod val="75000"/>
                  </a:srgbClr>
                </a:solidFill>
                <a:effectLst>
                  <a:outerShdw blurRad="63500" dist="53882" dir="2700000" algn="ctr" rotWithShape="0">
                    <a:srgbClr val="C0C0C0">
                      <a:alpha val="74998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Behave, Speak, Relate, and Think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422525" y="21939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dirty="0">
              <a:latin typeface="Times" charset="0"/>
              <a:cs typeface="+mn-cs"/>
            </a:endParaRP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-1" y="181454"/>
            <a:ext cx="9144001" cy="646331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  <a:extLst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little kids to teens … they all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3423971"/>
            <a:ext cx="9144000" cy="2031325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These are the essentials for social-emotional development …</a:t>
            </a:r>
            <a:endParaRPr lang="en-US" sz="4400" b="1" dirty="0">
              <a:solidFill>
                <a:srgbClr val="FFFFFF"/>
              </a:solidFill>
              <a:cs typeface="Didot"/>
            </a:endParaRPr>
          </a:p>
          <a:p>
            <a:pPr algn="ctr"/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four developmental domains!</a:t>
            </a:r>
            <a:endParaRPr lang="en-US" sz="4000" b="1" dirty="0">
              <a:solidFill>
                <a:srgbClr val="FFFFFF"/>
              </a:solidFill>
              <a:latin typeface="Didot"/>
              <a:cs typeface="Didot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3B675B3-9155-430F-AF97-4CFAD9266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591336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3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CE663EA-594E-4957-932A-FCE7635CC1C6}"/>
              </a:ext>
            </a:extLst>
          </p:cNvPr>
          <p:cNvSpPr txBox="1"/>
          <p:nvPr/>
        </p:nvSpPr>
        <p:spPr>
          <a:xfrm>
            <a:off x="715659" y="566678"/>
            <a:ext cx="6430617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next four slides summarize the DTT content in each domain:</a:t>
            </a:r>
          </a:p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Behavior,  Communication,</a:t>
            </a:r>
          </a:p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Socialization, and Cognition.</a:t>
            </a:r>
          </a:p>
          <a:p>
            <a:pPr algn="ctr"/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6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Within each domain key</a:t>
            </a:r>
          </a:p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competencies are needed by all children to be</a:t>
            </a:r>
          </a:p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successful in school (and in life).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28447E8-011F-48F1-A8C1-AA6DACE34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91336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2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558243" y="2712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  <a:latin typeface="Didot"/>
                <a:cs typeface="Didot"/>
              </a:rPr>
              <a:t>DEVELOPMENTAL STRANDS IN  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Didot"/>
                <a:cs typeface="Didot"/>
              </a:rPr>
              <a:t>BEHAVIOR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: </a:t>
            </a:r>
          </a:p>
          <a:p>
            <a:endParaRPr 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412681070"/>
              </p:ext>
            </p:extLst>
          </p:nvPr>
        </p:nvGraphicFramePr>
        <p:xfrm>
          <a:off x="406832" y="1002736"/>
          <a:ext cx="7731664" cy="5471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005504" y="1363847"/>
            <a:ext cx="6200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       </a:t>
            </a:r>
            <a:r>
              <a:rPr lang="en-US" sz="2800" b="1" dirty="0">
                <a:latin typeface="+mj-lt"/>
              </a:rPr>
              <a:t>SOCIAL RESPONSIBILITY</a:t>
            </a:r>
            <a:endParaRPr lang="en-US" sz="2800" b="1" dirty="0">
              <a:solidFill>
                <a:srgbClr val="000000"/>
              </a:solidFill>
              <a:latin typeface="+mj-lt"/>
              <a:cs typeface="Arial Black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62186" y="1943014"/>
            <a:ext cx="623762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b="1" dirty="0">
              <a:latin typeface="+mj-lt"/>
              <a:cs typeface="Arial Black"/>
            </a:endParaRPr>
          </a:p>
          <a:p>
            <a:pPr algn="ctr"/>
            <a:r>
              <a:rPr lang="en-US" sz="2800" b="1" dirty="0">
                <a:latin typeface="+mj-lt"/>
                <a:cs typeface="Arial Black"/>
              </a:rPr>
              <a:t>PERSONAL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9919" y="2796188"/>
            <a:ext cx="401367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GROUP CONFORMITY</a:t>
            </a:r>
          </a:p>
          <a:p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417627" y="3688740"/>
            <a:ext cx="41459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EXPLORATORY ACTIVITY</a:t>
            </a:r>
          </a:p>
          <a:p>
            <a:endParaRPr lang="en-US" sz="2400" b="1" dirty="0"/>
          </a:p>
          <a:p>
            <a:r>
              <a:rPr lang="en-US" sz="2400" b="1" dirty="0"/>
              <a:t>      </a:t>
            </a:r>
            <a:r>
              <a:rPr lang="en-US" sz="2800" b="1" dirty="0"/>
              <a:t>SENSORI-MOTOR</a:t>
            </a:r>
          </a:p>
        </p:txBody>
      </p:sp>
      <p:sp>
        <p:nvSpPr>
          <p:cNvPr id="6" name="Up Arrow 5"/>
          <p:cNvSpPr/>
          <p:nvPr/>
        </p:nvSpPr>
        <p:spPr>
          <a:xfrm>
            <a:off x="4098889" y="5429264"/>
            <a:ext cx="783440" cy="1251153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21527" y="6013005"/>
            <a:ext cx="2932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Beginning 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5059C4E-2558-440E-847A-E019875FAF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659" y="591336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07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29817" y="90757"/>
            <a:ext cx="91440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DEVELOPMENTAL STRANDS IN 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+mj-lt"/>
              </a:rPr>
              <a:t>COMMUNICATION</a:t>
            </a:r>
          </a:p>
          <a:p>
            <a:endParaRPr 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937935031"/>
              </p:ext>
            </p:extLst>
          </p:nvPr>
        </p:nvGraphicFramePr>
        <p:xfrm>
          <a:off x="872338" y="1167047"/>
          <a:ext cx="7731664" cy="5362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21994" y="1320545"/>
            <a:ext cx="65894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</a:t>
            </a:r>
            <a:r>
              <a:rPr lang="en-US" sz="2800" b="1" dirty="0">
                <a:solidFill>
                  <a:srgbClr val="000000"/>
                </a:solidFill>
                <a:latin typeface="+mj-lt"/>
                <a:cs typeface="Arial Black"/>
              </a:rPr>
              <a:t>ABSTRACT, IDEA-ORIENTED          </a:t>
            </a:r>
            <a:br>
              <a:rPr lang="en-US" sz="2800" b="1" dirty="0">
                <a:solidFill>
                  <a:srgbClr val="000000"/>
                </a:solidFill>
                <a:latin typeface="+mj-lt"/>
                <a:cs typeface="Arial Black"/>
              </a:rPr>
            </a:br>
            <a:r>
              <a:rPr lang="en-US" sz="2800" b="1" dirty="0">
                <a:solidFill>
                  <a:srgbClr val="000000"/>
                </a:solidFill>
                <a:latin typeface="+mj-lt"/>
                <a:cs typeface="Arial Black"/>
              </a:rPr>
              <a:t>                    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2090" y="2345195"/>
            <a:ext cx="623762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b="1" dirty="0">
              <a:latin typeface="+mj-lt"/>
              <a:cs typeface="Arial Black"/>
            </a:endParaRPr>
          </a:p>
          <a:p>
            <a:pPr algn="ctr"/>
            <a:r>
              <a:rPr lang="en-US" sz="2800" b="1" dirty="0">
                <a:latin typeface="+mj-lt"/>
                <a:cs typeface="Arial Black"/>
              </a:rPr>
              <a:t>SELF EXPRESSION IN SOCIAL EXCHANGES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2146" y="3652349"/>
            <a:ext cx="4871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</a:t>
            </a:r>
            <a:r>
              <a:rPr lang="en-US" sz="2800" b="1" dirty="0"/>
              <a:t>SOCIALIZED LANGUAGE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1196" y="3970999"/>
            <a:ext cx="523589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 </a:t>
            </a:r>
          </a:p>
          <a:p>
            <a:r>
              <a:rPr lang="en-US" sz="2400" b="1" dirty="0"/>
              <a:t>   </a:t>
            </a:r>
            <a:r>
              <a:rPr lang="en-US" sz="2800" b="1" dirty="0">
                <a:latin typeface="+mj-lt"/>
              </a:rPr>
              <a:t>SPONTANEOUS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3634" y="4644903"/>
            <a:ext cx="48710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  </a:t>
            </a:r>
            <a:endParaRPr lang="en-US" b="1" dirty="0"/>
          </a:p>
          <a:p>
            <a:r>
              <a:rPr lang="en-US" sz="2400" b="1" dirty="0"/>
              <a:t>     </a:t>
            </a:r>
            <a:r>
              <a:rPr lang="en-US" sz="2800" b="1" dirty="0"/>
              <a:t>PREVERBAL SPEECH  </a:t>
            </a:r>
          </a:p>
        </p:txBody>
      </p:sp>
      <p:sp>
        <p:nvSpPr>
          <p:cNvPr id="10" name="Up Arrow 9"/>
          <p:cNvSpPr/>
          <p:nvPr/>
        </p:nvSpPr>
        <p:spPr>
          <a:xfrm>
            <a:off x="4382004" y="5765259"/>
            <a:ext cx="685800" cy="1044701"/>
          </a:xfrm>
          <a:prstGeom prst="upArrow">
            <a:avLst>
              <a:gd name="adj1" fmla="val 50000"/>
              <a:gd name="adj2" fmla="val 5162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25434" y="6261733"/>
            <a:ext cx="33989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  </a:t>
            </a:r>
            <a:r>
              <a:rPr lang="en-US" sz="2400" b="1" dirty="0"/>
              <a:t>Beginning here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3511ED7-C1F4-470F-AF22-41D850274D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659" y="591336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287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2782" y="317458"/>
            <a:ext cx="890121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DEVELOPMENTAL STRANDS IN  </a:t>
            </a:r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</a:rPr>
              <a:t>SOCIALIZATION</a:t>
            </a:r>
          </a:p>
          <a:p>
            <a:endParaRPr 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200457440"/>
              </p:ext>
            </p:extLst>
          </p:nvPr>
        </p:nvGraphicFramePr>
        <p:xfrm>
          <a:off x="827559" y="1070271"/>
          <a:ext cx="7731664" cy="5362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65151" y="1620732"/>
            <a:ext cx="623762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b="1" dirty="0">
              <a:latin typeface="+mj-lt"/>
              <a:cs typeface="Arial Black"/>
            </a:endParaRPr>
          </a:p>
          <a:p>
            <a:pPr algn="ctr"/>
            <a:r>
              <a:rPr lang="en-US" sz="2800" b="1" dirty="0">
                <a:latin typeface="+mj-lt"/>
                <a:cs typeface="Arial Black"/>
              </a:rPr>
              <a:t>THE SOCIAL 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2448" y="2486043"/>
            <a:ext cx="4219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/>
          </a:p>
          <a:p>
            <a:pPr algn="ctr"/>
            <a:r>
              <a:rPr lang="en-US" sz="2800" b="1" dirty="0"/>
              <a:t>SOCIAL UNIFORMITY</a:t>
            </a:r>
          </a:p>
          <a:p>
            <a:pPr algn="ctr"/>
            <a:endParaRPr lang="en-US" sz="800" b="1" dirty="0"/>
          </a:p>
          <a:p>
            <a:pPr algn="ctr"/>
            <a:r>
              <a:rPr lang="en-US" sz="2800" b="1" dirty="0"/>
              <a:t>IDENTITY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575657" y="3837348"/>
            <a:ext cx="41459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</a:rPr>
              <a:t>AUTONOMY</a:t>
            </a:r>
            <a:r>
              <a:rPr lang="en-US" sz="2400" b="1" dirty="0">
                <a:latin typeface="+mj-lt"/>
              </a:rPr>
              <a:t> &amp; </a:t>
            </a:r>
            <a:r>
              <a:rPr lang="en-US" sz="2800" b="1" dirty="0">
                <a:latin typeface="+mj-lt"/>
              </a:rPr>
              <a:t>MASTERY</a:t>
            </a:r>
          </a:p>
          <a:p>
            <a:endParaRPr lang="en-US" sz="2400" b="1" dirty="0"/>
          </a:p>
          <a:p>
            <a:r>
              <a:rPr lang="en-US" sz="2400" b="1" dirty="0"/>
              <a:t>          </a:t>
            </a:r>
            <a:r>
              <a:rPr lang="en-US" sz="2800" b="1" dirty="0">
                <a:latin typeface="+mj-lt"/>
              </a:rPr>
              <a:t>ATTACHMENT</a:t>
            </a:r>
          </a:p>
        </p:txBody>
      </p:sp>
      <p:sp>
        <p:nvSpPr>
          <p:cNvPr id="6" name="Up Arrow 5"/>
          <p:cNvSpPr/>
          <p:nvPr/>
        </p:nvSpPr>
        <p:spPr>
          <a:xfrm>
            <a:off x="4228877" y="5537194"/>
            <a:ext cx="783440" cy="1251153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31923" y="6148905"/>
            <a:ext cx="2446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Beginning here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C463904-E146-4DE6-9BB0-77B560FE2E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659" y="591336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75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2782" y="317458"/>
            <a:ext cx="890121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00"/>
                </a:solidFill>
              </a:rPr>
              <a:t>DEVELOPMENTAL STRANDS IN  </a:t>
            </a:r>
          </a:p>
          <a:p>
            <a:pPr algn="ctr"/>
            <a:r>
              <a:rPr lang="en-US" sz="36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</a:rPr>
              <a:t>COGNITION</a:t>
            </a:r>
          </a:p>
          <a:p>
            <a:endParaRPr 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79734992"/>
              </p:ext>
            </p:extLst>
          </p:nvPr>
        </p:nvGraphicFramePr>
        <p:xfrm>
          <a:off x="896426" y="1510748"/>
          <a:ext cx="7731664" cy="5099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50473" y="1672145"/>
            <a:ext cx="644305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b="1" dirty="0">
              <a:latin typeface="+mj-lt"/>
              <a:cs typeface="Arial Black"/>
            </a:endParaRPr>
          </a:p>
          <a:p>
            <a:pPr algn="ctr"/>
            <a:r>
              <a:rPr lang="en-US" sz="2800" b="1" dirty="0">
                <a:latin typeface="+mj-lt"/>
                <a:cs typeface="Arial Black"/>
              </a:rPr>
              <a:t>ABSTRACT THOUGHT &amp; LOGIC</a:t>
            </a:r>
          </a:p>
          <a:p>
            <a:pPr algn="ctr"/>
            <a:endParaRPr lang="en-US" sz="800" b="1" dirty="0">
              <a:latin typeface="+mj-lt"/>
              <a:cs typeface="Arial Black"/>
            </a:endParaRPr>
          </a:p>
          <a:p>
            <a:pPr algn="ctr"/>
            <a:endParaRPr lang="en-US" sz="500" b="1" dirty="0">
              <a:latin typeface="+mj-lt"/>
              <a:cs typeface="Arial Black"/>
            </a:endParaRPr>
          </a:p>
          <a:p>
            <a:pPr algn="ctr"/>
            <a:r>
              <a:rPr lang="en-US" sz="2800" b="1" dirty="0">
                <a:latin typeface="+mj-lt"/>
                <a:cs typeface="Arial Black"/>
              </a:rPr>
              <a:t>CONCEPT 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16" y="3033456"/>
            <a:ext cx="40883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/>
          </a:p>
          <a:p>
            <a:pPr algn="ctr"/>
            <a:endParaRPr lang="en-US" sz="800" b="1" dirty="0"/>
          </a:p>
          <a:p>
            <a:pPr algn="ctr"/>
            <a:r>
              <a:rPr lang="en-US" sz="2800" b="1" dirty="0"/>
              <a:t>BODY SKILLS &amp;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705" y="3848293"/>
            <a:ext cx="35109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b="1" dirty="0">
              <a:latin typeface="+mj-lt"/>
            </a:endParaRPr>
          </a:p>
          <a:p>
            <a:pPr algn="ctr"/>
            <a:r>
              <a:rPr lang="en-US" sz="2800" b="1" dirty="0">
                <a:latin typeface="+mj-lt"/>
              </a:rPr>
              <a:t>SENSORI-MOTOR</a:t>
            </a:r>
          </a:p>
          <a:p>
            <a:pPr algn="ctr"/>
            <a:r>
              <a:rPr lang="en-US" sz="2800" b="1" dirty="0">
                <a:latin typeface="+mj-lt"/>
              </a:rPr>
              <a:t> &amp;  </a:t>
            </a:r>
          </a:p>
          <a:p>
            <a:pPr algn="ctr"/>
            <a:r>
              <a:rPr lang="en-US" sz="2800" b="1" dirty="0">
                <a:latin typeface="+mj-lt"/>
              </a:rPr>
              <a:t>MEMORY</a:t>
            </a:r>
          </a:p>
        </p:txBody>
      </p:sp>
      <p:sp>
        <p:nvSpPr>
          <p:cNvPr id="6" name="Up Arrow 5"/>
          <p:cNvSpPr/>
          <p:nvPr/>
        </p:nvSpPr>
        <p:spPr>
          <a:xfrm>
            <a:off x="4285715" y="5606847"/>
            <a:ext cx="783440" cy="1251153"/>
          </a:xfrm>
          <a:prstGeom prst="upArrow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86891" y="6241238"/>
            <a:ext cx="32495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Beginning here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61C0D27B-C94C-450E-8A1A-4F95EEA1C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659" y="591336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33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55600"/>
            <a:ext cx="9144000" cy="1442720"/>
          </a:xfrm>
          <a:solidFill>
            <a:srgbClr val="1F497D"/>
          </a:solidFill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are these developmental strands essential for every individual?</a:t>
            </a:r>
            <a:b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DA33848-B32D-48D1-8150-B76531E7C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913360"/>
            <a:ext cx="763186" cy="7631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6028821-1120-4B1D-BFC0-B34C10B767E3}"/>
              </a:ext>
            </a:extLst>
          </p:cNvPr>
          <p:cNvSpPr txBox="1"/>
          <p:nvPr/>
        </p:nvSpPr>
        <p:spPr>
          <a:xfrm>
            <a:off x="590522" y="1924702"/>
            <a:ext cx="7837819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2" indent="-800100">
              <a:buClr>
                <a:schemeClr val="accent2">
                  <a:lumMod val="50000"/>
                </a:schemeClr>
              </a:buClr>
              <a:buSzPct val="125000"/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These strands are the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 of developmental stages.</a:t>
            </a:r>
            <a:r>
              <a:rPr lang="en-US" sz="24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b="1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63600" lvl="2" indent="-863600">
              <a:buClr>
                <a:schemeClr val="accent2">
                  <a:lumMod val="50000"/>
                </a:schemeClr>
              </a:buClr>
              <a:buSzPct val="125000"/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They define how well a person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copes with the tasks of learning and life.</a:t>
            </a:r>
          </a:p>
          <a:p>
            <a:pPr marL="863600" lvl="2" indent="-863600">
              <a:buClr>
                <a:schemeClr val="accent2">
                  <a:lumMod val="50000"/>
                </a:schemeClr>
              </a:buClr>
              <a:buSzPct val="125000"/>
              <a:buFont typeface="Wingdings" panose="05000000000000000000" pitchFamily="2" charset="2"/>
              <a:buChar char="Ø"/>
              <a:defRPr/>
            </a:pPr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63600" lvl="2" indent="-863600">
              <a:buClr>
                <a:schemeClr val="accent2">
                  <a:lumMod val="50000"/>
                </a:schemeClr>
              </a:buClr>
              <a:buSzPct val="125000"/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shape everyday experiences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into what an individual becomes.</a:t>
            </a:r>
          </a:p>
          <a:p>
            <a:pPr marL="863600" lvl="2" indent="-863600">
              <a:buClr>
                <a:schemeClr val="accent2">
                  <a:lumMod val="50000"/>
                </a:schemeClr>
              </a:buClr>
              <a:buSzPct val="125000"/>
              <a:buFont typeface="Wingdings" panose="05000000000000000000" pitchFamily="2" charset="2"/>
              <a:buChar char="Ø"/>
              <a:defRPr/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63600" lvl="2" indent="-863600">
              <a:buClr>
                <a:schemeClr val="accent2">
                  <a:lumMod val="50000"/>
                </a:schemeClr>
              </a:buClr>
              <a:buSzPct val="125000"/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They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continue to expand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as a life-long part of a person’s personality.</a:t>
            </a:r>
          </a:p>
          <a:p>
            <a:pPr marL="863600" indent="-863600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Ø"/>
              <a:defRPr/>
            </a:pPr>
            <a:endParaRPr lang="en-US" sz="39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099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4819"/>
            <a:ext cx="9144000" cy="2426616"/>
          </a:xfrm>
          <a:solidFill>
            <a:srgbClr val="1F497D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rtlCol="0">
            <a:noAutofit/>
            <a:scene3d>
              <a:camera prst="orthographicFront"/>
              <a:lightRig rig="morning" dir="t">
                <a:rot lat="0" lon="0" rev="2400000"/>
              </a:lightRig>
            </a:scene3d>
          </a:bodyPr>
          <a:lstStyle/>
          <a:p>
            <a:pPr algn="ctr">
              <a:defRPr/>
            </a:pP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48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Developmental Therapy-Teaching</a:t>
            </a:r>
            <a:b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(DTT)</a:t>
            </a:r>
            <a:b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16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4400" dirty="0">
                <a:solidFill>
                  <a:schemeClr val="bg1"/>
                </a:solidFill>
                <a:latin typeface="Didot"/>
                <a:cs typeface="Didot"/>
              </a:rPr>
              <a:t> </a:t>
            </a:r>
            <a:endParaRPr lang="en-US" sz="3200" b="1" dirty="0">
              <a:solidFill>
                <a:schemeClr val="bg1"/>
              </a:solidFill>
              <a:effectLst/>
              <a:latin typeface="Didot"/>
              <a:cs typeface="Dido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6807" y="3427370"/>
            <a:ext cx="8022123" cy="2208117"/>
          </a:xfrm>
        </p:spPr>
        <p:txBody>
          <a:bodyPr rtlCol="0">
            <a:normAutofit/>
            <a:scene3d>
              <a:camera prst="orthographicFront"/>
              <a:lightRig rig="threePt" dir="t"/>
            </a:scene3d>
          </a:bodyPr>
          <a:lstStyle/>
          <a:p>
            <a:pPr>
              <a:lnSpc>
                <a:spcPct val="120000"/>
              </a:lnSpc>
            </a:pPr>
            <a:r>
              <a:rPr lang="en-US" sz="3600" dirty="0">
                <a:ln>
                  <a:solidFill>
                    <a:srgbClr val="0070C0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Organizes these domain strands into 5 age-related stages with competencies for sequential teaching within each stage.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263650" y="2277692"/>
            <a:ext cx="576943" cy="753743"/>
          </a:xfrm>
          <a:prstGeom prst="downArrow">
            <a:avLst/>
          </a:prstGeom>
          <a:solidFill>
            <a:schemeClr val="bg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EADB2BA-CFF3-4880-AB7C-A987EA673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591336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295585" y="580762"/>
            <a:ext cx="6321642" cy="511524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Assess 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student’s achieved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competencies to identify the current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developmental stage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with the DTORF-R or E-DTORF</a:t>
            </a:r>
          </a:p>
          <a:p>
            <a:pPr marL="342900" indent="-342900"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99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 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age-related cluster of competencies NOT achieved for the student’s current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instructional stage</a:t>
            </a:r>
          </a:p>
          <a:p>
            <a:pPr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the instructional stage for planning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IEP</a:t>
            </a:r>
            <a:r>
              <a:rPr lang="en-US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&amp; BIP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goals and objectives, teaching practices, and behavior supports</a:t>
            </a:r>
          </a:p>
          <a:p>
            <a:pPr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endParaRPr lang="en-US" b="1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Repeat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rating at intervals to adjust instruction for achievement of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selected competencies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b="1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4C72A32-694D-45C3-AC8E-BA34D0446F20}"/>
              </a:ext>
            </a:extLst>
          </p:cNvPr>
          <p:cNvSpPr txBox="1"/>
          <p:nvPr/>
        </p:nvSpPr>
        <p:spPr>
          <a:xfrm>
            <a:off x="417444" y="506896"/>
            <a:ext cx="1779104" cy="526297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How is a </a:t>
            </a:r>
          </a:p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student’s       stage 	          identified</a:t>
            </a:r>
          </a:p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and used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algn="ctr"/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algn="ctr"/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  <a:p>
            <a:pPr algn="ctr"/>
            <a:endParaRPr lang="en-US" sz="2800" b="1" dirty="0">
              <a:solidFill>
                <a:schemeClr val="bg1"/>
              </a:solidFill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9A44887-E2CE-4A11-AFA5-2B764D9EF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591336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02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80645"/>
            <a:ext cx="9144000" cy="3693319"/>
          </a:xfrm>
          <a:prstGeom prst="rect">
            <a:avLst/>
          </a:prstGeom>
          <a:ln>
            <a:solidFill>
              <a:srgbClr val="8E1E2D"/>
            </a:solidFill>
          </a:ln>
        </p:spPr>
        <p:txBody>
          <a:bodyPr wrap="square">
            <a:spAutoFit/>
          </a:bodyPr>
          <a:lstStyle/>
          <a:p>
            <a:pPr algn="ctr"/>
            <a:endParaRPr lang="en-US" sz="1600" b="1" dirty="0"/>
          </a:p>
          <a:p>
            <a:pPr algn="ctr"/>
            <a:endParaRPr lang="en-US" sz="1600" b="1" dirty="0">
              <a:solidFill>
                <a:srgbClr val="376092"/>
              </a:solidFill>
              <a:latin typeface="Didot"/>
              <a:cs typeface="Didot"/>
            </a:endParaRPr>
          </a:p>
          <a:p>
            <a:pPr algn="ctr"/>
            <a:r>
              <a:rPr lang="en-US" sz="5400" b="1" dirty="0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DTORF-R</a:t>
            </a:r>
          </a:p>
          <a:p>
            <a:pPr algn="ctr"/>
            <a:r>
              <a:rPr lang="en-US" sz="3200" b="1" dirty="0">
                <a:latin typeface="Didot"/>
                <a:cs typeface="Didot"/>
              </a:rPr>
              <a:t>(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Developmental Teaching Objectives </a:t>
            </a:r>
          </a:p>
          <a:p>
            <a:pPr algn="ctr"/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and Rating Forms-Revised</a:t>
            </a:r>
            <a:r>
              <a:rPr lang="en-US" sz="3200" b="1" dirty="0">
                <a:latin typeface="Didot"/>
                <a:cs typeface="Didot"/>
              </a:rPr>
              <a:t>) </a:t>
            </a:r>
            <a:endParaRPr lang="en-US" dirty="0">
              <a:latin typeface="Didot"/>
              <a:cs typeface="Didot"/>
            </a:endParaRPr>
          </a:p>
          <a:p>
            <a:pPr algn="ctr"/>
            <a:endParaRPr lang="en-US" sz="1400" b="1" dirty="0">
              <a:ln>
                <a:solidFill>
                  <a:schemeClr val="tx1"/>
                </a:solidFill>
              </a:ln>
              <a:latin typeface="Didot"/>
              <a:cs typeface="Didot"/>
            </a:endParaRPr>
          </a:p>
          <a:p>
            <a:pPr algn="ctr">
              <a:defRPr/>
            </a:pPr>
            <a:r>
              <a:rPr lang="en-US" sz="32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Didot"/>
                <a:cs typeface="Didot"/>
              </a:rPr>
              <a:t>print and online versions</a:t>
            </a:r>
          </a:p>
          <a:p>
            <a:pPr algn="ctr">
              <a:defRPr/>
            </a:pPr>
            <a:endParaRPr lang="en-US" sz="3200" dirty="0">
              <a:latin typeface="+mj-lt"/>
            </a:endParaRPr>
          </a:p>
        </p:txBody>
      </p:sp>
      <p:pic>
        <p:nvPicPr>
          <p:cNvPr id="4" name="Picture Placeholder 10" descr="dtorf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92817"/>
            <a:ext cx="4254654" cy="2987828"/>
          </a:xfrm>
          <a:prstGeom prst="rect">
            <a:avLst/>
          </a:prstGeom>
        </p:spPr>
      </p:pic>
      <p:pic>
        <p:nvPicPr>
          <p:cNvPr id="5" name="Picture 4" descr="student 218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55078">
            <a:off x="4087281" y="592398"/>
            <a:ext cx="4738297" cy="3025854"/>
          </a:xfrm>
          <a:prstGeom prst="rect">
            <a:avLst/>
          </a:prstGeom>
        </p:spPr>
      </p:pic>
      <p:cxnSp>
        <p:nvCxnSpPr>
          <p:cNvPr id="19" name="Straight Connector 18"/>
          <p:cNvCxnSpPr>
            <a:cxnSpLocks/>
          </p:cNvCxnSpPr>
          <p:nvPr/>
        </p:nvCxnSpPr>
        <p:spPr>
          <a:xfrm flipH="1">
            <a:off x="8594681" y="1032717"/>
            <a:ext cx="471649" cy="28641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4806865" y="3374426"/>
            <a:ext cx="3787816" cy="6118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3862222" y="192817"/>
            <a:ext cx="537444" cy="29878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8673897" y="728283"/>
            <a:ext cx="72246" cy="4295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/>
          </p:cNvCxnSpPr>
          <p:nvPr/>
        </p:nvCxnSpPr>
        <p:spPr>
          <a:xfrm flipH="1" flipV="1">
            <a:off x="3862222" y="3219029"/>
            <a:ext cx="954808" cy="1476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424450" y="274836"/>
            <a:ext cx="4621310" cy="7282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6B52680-3534-4389-A9F4-C08F48A25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59" y="591336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79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0" y="258415"/>
            <a:ext cx="9144000" cy="2017645"/>
          </a:xfrm>
          <a:solidFill>
            <a:srgbClr val="1F497D"/>
          </a:solidFill>
        </p:spPr>
        <p:txBody>
          <a:bodyPr>
            <a:noAutofit/>
          </a:bodyPr>
          <a:lstStyle/>
          <a:p>
            <a:pPr algn="ctr"/>
            <a:r>
              <a:rPr lang="en-US" alt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DTORF-R is…</a:t>
            </a:r>
            <a:br>
              <a:rPr lang="en-US" alt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Your Typical Developmental Assessment Instrument!</a:t>
            </a:r>
            <a:r>
              <a:rPr lang="en-US" altLang="en-US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altLang="en-US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3200" b="1" dirty="0">
                <a:solidFill>
                  <a:srgbClr val="FFFFFF"/>
                </a:solidFill>
                <a:latin typeface="Didot"/>
                <a:cs typeface="Didot"/>
              </a:rPr>
              <a:t/>
            </a:r>
            <a:br>
              <a:rPr lang="en-US" altLang="en-US" sz="3200" b="1" dirty="0">
                <a:solidFill>
                  <a:srgbClr val="FFFFFF"/>
                </a:solidFill>
                <a:latin typeface="Didot"/>
                <a:cs typeface="Didot"/>
              </a:rPr>
            </a:br>
            <a:endParaRPr lang="en-US" altLang="en-US" sz="3200" b="1" dirty="0">
              <a:solidFill>
                <a:srgbClr val="FFFFFF"/>
              </a:solidFill>
              <a:latin typeface="Didot"/>
              <a:cs typeface="Didot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434110" y="2453030"/>
            <a:ext cx="8083725" cy="3768866"/>
          </a:xfrm>
          <a:noFill/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endParaRPr lang="en-US" altLang="en-US" sz="800" b="1" dirty="0">
              <a:solidFill>
                <a:srgbClr val="800000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1000" b="1" dirty="0">
              <a:solidFill>
                <a:srgbClr val="800000"/>
              </a:solidFill>
            </a:endParaRPr>
          </a:p>
          <a:p>
            <a:pPr eaLnBrk="1" hangingPunct="1"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Uses observational ratings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students’ behavior in home, school, and neighborhood</a:t>
            </a: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800" b="1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Identifies skills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students have mastered, need to work on, and not developmentally prepared to work on</a:t>
            </a:r>
          </a:p>
          <a:p>
            <a:pPr eaLnBrk="1" hangingPunct="1"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8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Ratings</a:t>
            </a:r>
            <a:r>
              <a:rPr lang="en-US" altLang="en-US" sz="28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US" altLang="en-US" sz="28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consensus</a:t>
            </a:r>
            <a:endParaRPr lang="en-US" altLang="en-US" sz="2800" b="1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800" b="1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lnSpc>
                <a:spcPct val="8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Self-rating</a:t>
            </a:r>
            <a:r>
              <a:rPr lang="en-US" altLang="en-US" sz="2800" b="1" dirty="0">
                <a:solidFill>
                  <a:srgbClr val="8E1E2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may be done by older students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337D829-97D8-42A8-8BCA-4BA445659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441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35643" y="291959"/>
            <a:ext cx="2802834" cy="5503706"/>
          </a:xfrm>
          <a:solidFill>
            <a:srgbClr val="1F497D"/>
          </a:solidFill>
        </p:spPr>
        <p:txBody>
          <a:bodyPr rtlCol="0">
            <a:noAutofit/>
            <a:scene3d>
              <a:camera prst="orthographicFront"/>
              <a:lightRig rig="morning" dir="t">
                <a:rot lat="0" lon="0" rev="2400000"/>
              </a:lightRig>
            </a:scene3d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sz="4000" b="1" dirty="0">
                <a:solidFill>
                  <a:schemeClr val="bg1"/>
                </a:solidFill>
                <a:latin typeface="Didot"/>
                <a:cs typeface="Didot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DTORF-R is…</a:t>
            </a:r>
            <a:b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a growth-based 	behavioral   	rating    </a:t>
            </a:r>
            <a:b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instrument</a:t>
            </a:r>
            <a:b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defining student 	competencies</a:t>
            </a:r>
            <a:b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	in the four DTT 	developmental </a:t>
            </a:r>
            <a:b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domains.</a:t>
            </a: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200" dirty="0">
                <a:solidFill>
                  <a:schemeClr val="bg1"/>
                </a:solidFill>
                <a:latin typeface="Didot"/>
                <a:cs typeface="Didot"/>
              </a:rPr>
            </a:br>
            <a:r>
              <a:rPr lang="en-US" sz="3200" dirty="0">
                <a:solidFill>
                  <a:schemeClr val="bg1"/>
                </a:solidFill>
                <a:latin typeface="Didot"/>
                <a:cs typeface="Didot"/>
              </a:rPr>
              <a:t/>
            </a:r>
            <a:br>
              <a:rPr lang="en-US" sz="3200" dirty="0">
                <a:solidFill>
                  <a:schemeClr val="bg1"/>
                </a:solidFill>
                <a:latin typeface="Didot"/>
                <a:cs typeface="Didot"/>
              </a:rPr>
            </a:br>
            <a:endParaRPr lang="en-US" sz="32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Didot"/>
              <a:cs typeface="Didot"/>
            </a:endParaRPr>
          </a:p>
        </p:txBody>
      </p:sp>
      <p:sp>
        <p:nvSpPr>
          <p:cNvPr id="9" name="Sun 8"/>
          <p:cNvSpPr/>
          <p:nvPr/>
        </p:nvSpPr>
        <p:spPr>
          <a:xfrm>
            <a:off x="7199680" y="1716547"/>
            <a:ext cx="533402" cy="457200"/>
          </a:xfrm>
          <a:prstGeom prst="sun">
            <a:avLst/>
          </a:prstGeom>
          <a:solidFill>
            <a:srgbClr val="60081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417" name="TextBox 13"/>
          <p:cNvSpPr txBox="1">
            <a:spLocks noChangeArrowheads="1"/>
          </p:cNvSpPr>
          <p:nvPr/>
        </p:nvSpPr>
        <p:spPr bwMode="auto">
          <a:xfrm>
            <a:off x="3308487" y="189820"/>
            <a:ext cx="3339364" cy="602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FF0000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	</a:t>
            </a:r>
          </a:p>
          <a:p>
            <a:pPr>
              <a:defRPr/>
            </a:pP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BEHAVIOR</a:t>
            </a:r>
          </a:p>
          <a:p>
            <a:pPr>
              <a:defRPr/>
            </a:pP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COMMUNICATION </a:t>
            </a:r>
          </a:p>
          <a:p>
            <a:pPr>
              <a:defRPr/>
            </a:pP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SOCIALIZATION</a:t>
            </a:r>
          </a:p>
          <a:p>
            <a:pPr>
              <a:defRPr/>
            </a:pP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COGNITION </a:t>
            </a:r>
          </a:p>
          <a:p>
            <a:pPr>
              <a:defRPr/>
            </a:pPr>
            <a:endParaRPr lang="en-US" sz="2400" dirty="0">
              <a:latin typeface="Calibri" panose="020F0502020204030204" pitchFamily="34" charset="0"/>
              <a:ea typeface="ＭＳ Ｐゴシック" pitchFamily="-110" charset="-128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Developmentally sequenced</a:t>
            </a:r>
          </a:p>
          <a:p>
            <a:pPr marL="342900" indent="-342900">
              <a:buFont typeface="Courier New" panose="02070309020205020404" pitchFamily="49" charset="0"/>
              <a:buChar char="o"/>
              <a:defRPr/>
            </a:pPr>
            <a:endParaRPr lang="en-US" sz="2400" b="1" dirty="0">
              <a:ln>
                <a:solidFill>
                  <a:schemeClr val="tx1"/>
                </a:solidFill>
              </a:ln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ＭＳ Ｐゴシック" pitchFamily="-110" charset="-128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For students</a:t>
            </a:r>
          </a:p>
          <a:p>
            <a:pPr>
              <a:defRPr/>
            </a:pP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pre/k - grade 12</a:t>
            </a:r>
          </a:p>
          <a:p>
            <a:pPr>
              <a:defRPr/>
            </a:pPr>
            <a:endParaRPr lang="en-US" sz="2400" b="1" dirty="0">
              <a:ln>
                <a:solidFill>
                  <a:schemeClr val="tx1"/>
                </a:solidFill>
              </a:ln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ＭＳ Ｐゴシック" pitchFamily="-110" charset="-128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sz="24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Partners with any intervention, academics, or social skills program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  <a:defRPr/>
            </a:pPr>
            <a:endParaRPr lang="en-US" sz="1400" b="1" dirty="0">
              <a:solidFill>
                <a:srgbClr val="800000"/>
              </a:solidFill>
              <a:ea typeface="ＭＳ Ｐゴシック" pitchFamily="-110" charset="-128"/>
              <a:cs typeface="ＭＳ Ｐゴシック" pitchFamily="-110" charset="-128"/>
            </a:endParaRPr>
          </a:p>
        </p:txBody>
      </p:sp>
      <p:sp>
        <p:nvSpPr>
          <p:cNvPr id="6" name="Sun 5"/>
          <p:cNvSpPr/>
          <p:nvPr/>
        </p:nvSpPr>
        <p:spPr>
          <a:xfrm>
            <a:off x="6666278" y="492008"/>
            <a:ext cx="533402" cy="431189"/>
          </a:xfrm>
          <a:prstGeom prst="sun">
            <a:avLst/>
          </a:prstGeom>
          <a:solidFill>
            <a:srgbClr val="60081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un 6"/>
          <p:cNvSpPr/>
          <p:nvPr/>
        </p:nvSpPr>
        <p:spPr>
          <a:xfrm>
            <a:off x="7924009" y="3054691"/>
            <a:ext cx="427493" cy="457199"/>
          </a:xfrm>
          <a:prstGeom prst="sun">
            <a:avLst/>
          </a:prstGeom>
          <a:solidFill>
            <a:srgbClr val="60081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un 7"/>
          <p:cNvSpPr/>
          <p:nvPr/>
        </p:nvSpPr>
        <p:spPr>
          <a:xfrm flipV="1">
            <a:off x="7100401" y="4130152"/>
            <a:ext cx="585523" cy="533400"/>
          </a:xfrm>
          <a:prstGeom prst="sun">
            <a:avLst>
              <a:gd name="adj" fmla="val 27941"/>
            </a:avLst>
          </a:prstGeom>
          <a:solidFill>
            <a:srgbClr val="60081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424" name="TextBox 11"/>
          <p:cNvSpPr txBox="1">
            <a:spLocks noChangeArrowheads="1"/>
          </p:cNvSpPr>
          <p:nvPr/>
        </p:nvSpPr>
        <p:spPr bwMode="auto">
          <a:xfrm>
            <a:off x="6724050" y="910192"/>
            <a:ext cx="16211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1" dirty="0">
                <a:solidFill>
                  <a:srgbClr val="800000"/>
                </a:solidFill>
                <a:latin typeface="Lucida Calligraphy" charset="0"/>
                <a:cs typeface="Lucida Calligraphy" charset="0"/>
              </a:rPr>
              <a:t>Doing</a:t>
            </a:r>
          </a:p>
        </p:txBody>
      </p:sp>
      <p:sp>
        <p:nvSpPr>
          <p:cNvPr id="17425" name="TextBox 13"/>
          <p:cNvSpPr txBox="1">
            <a:spLocks noChangeArrowheads="1"/>
          </p:cNvSpPr>
          <p:nvPr/>
        </p:nvSpPr>
        <p:spPr bwMode="auto">
          <a:xfrm>
            <a:off x="6527910" y="2218718"/>
            <a:ext cx="16924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  <a:latin typeface="Lucida Calligraphy" charset="0"/>
                <a:cs typeface="Lucida Calligraphy" charset="0"/>
              </a:rPr>
              <a:t> </a:t>
            </a:r>
            <a:r>
              <a:rPr lang="en-US" b="1" dirty="0">
                <a:solidFill>
                  <a:srgbClr val="800000"/>
                </a:solidFill>
                <a:latin typeface="Lucida Calligraphy" charset="0"/>
                <a:cs typeface="Lucida Calligraphy" charset="0"/>
              </a:rPr>
              <a:t>Saying</a:t>
            </a:r>
            <a:endParaRPr lang="en-US" sz="1800" b="1" dirty="0">
              <a:solidFill>
                <a:srgbClr val="800000"/>
              </a:solidFill>
              <a:latin typeface="Lucida Calligraphy" charset="0"/>
              <a:cs typeface="Lucida Calligraphy" charset="0"/>
            </a:endParaRPr>
          </a:p>
        </p:txBody>
      </p:sp>
      <p:sp>
        <p:nvSpPr>
          <p:cNvPr id="17426" name="TextBox 15"/>
          <p:cNvSpPr txBox="1">
            <a:spLocks noChangeArrowheads="1"/>
          </p:cNvSpPr>
          <p:nvPr/>
        </p:nvSpPr>
        <p:spPr bwMode="auto">
          <a:xfrm>
            <a:off x="7393163" y="3527244"/>
            <a:ext cx="16765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800000"/>
                </a:solidFill>
                <a:latin typeface="Lucida Calligraphy" charset="0"/>
                <a:cs typeface="Lucida Calligraphy" charset="0"/>
              </a:rPr>
              <a:t>Relating</a:t>
            </a:r>
            <a:endParaRPr lang="en-US" sz="1800" b="1" dirty="0">
              <a:solidFill>
                <a:srgbClr val="800000"/>
              </a:solidFill>
              <a:latin typeface="Lucida Calligraphy" charset="0"/>
              <a:cs typeface="Lucida Calligraphy" charset="0"/>
            </a:endParaRPr>
          </a:p>
        </p:txBody>
      </p:sp>
      <p:sp>
        <p:nvSpPr>
          <p:cNvPr id="17427" name="TextBox 18"/>
          <p:cNvSpPr txBox="1">
            <a:spLocks noChangeArrowheads="1"/>
          </p:cNvSpPr>
          <p:nvPr/>
        </p:nvSpPr>
        <p:spPr bwMode="auto">
          <a:xfrm>
            <a:off x="6668642" y="4733675"/>
            <a:ext cx="16765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800000"/>
                </a:solidFill>
                <a:latin typeface="Lucida Calligraphy" charset="0"/>
                <a:cs typeface="Lucida Calligraphy" charset="0"/>
              </a:rPr>
              <a:t>Thinking</a:t>
            </a:r>
            <a:endParaRPr lang="en-US" sz="1800" b="1" dirty="0">
              <a:solidFill>
                <a:srgbClr val="800000"/>
              </a:solidFill>
              <a:latin typeface="Lucida Calligraphy" charset="0"/>
              <a:cs typeface="Lucida Calligraphy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6527910" y="-145709"/>
            <a:ext cx="0" cy="6857999"/>
          </a:xfrm>
          <a:prstGeom prst="line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E33B1C0E-50CB-4AE9-8070-1F908BED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90426"/>
      </p:ext>
    </p:extLst>
  </p:cSld>
  <p:clrMapOvr>
    <a:masterClrMapping/>
  </p:clrMapOvr>
  <p:transition spd="slow">
    <p:pull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3200"/>
            <a:ext cx="9144000" cy="934720"/>
          </a:xfrm>
          <a:solidFill>
            <a:srgbClr val="1F497D"/>
          </a:solidFill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DTORF-R Ratings are Used to…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601" y="1530625"/>
            <a:ext cx="8514797" cy="3657601"/>
          </a:xfrm>
          <a:noFill/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Identify students in need of </a:t>
            </a:r>
            <a:r>
              <a:rPr lang="en-US" sz="26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referral </a:t>
            </a:r>
            <a:r>
              <a:rPr lang="en-US" sz="2600" b="1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additional supports</a:t>
            </a:r>
            <a:endParaRPr lang="en-US" sz="2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Make IEP </a:t>
            </a:r>
            <a:r>
              <a:rPr lang="en-US" sz="2600" b="1" dirty="0">
                <a:solidFill>
                  <a:srgbClr val="9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decisions about </a:t>
            </a:r>
            <a:r>
              <a:rPr lang="en-US" sz="26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placement and grouping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of students</a:t>
            </a: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US" sz="26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instructional objectives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2600" b="1" i="1" dirty="0">
                <a:latin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600" b="1" i="1" dirty="0">
                <a:latin typeface="Calibri" panose="020F0502020204030204" pitchFamily="34" charset="0"/>
                <a:cs typeface="Calibri" panose="020F0502020204030204" pitchFamily="34" charset="0"/>
              </a:rPr>
              <a:t>Communication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600" b="1" i="1" dirty="0">
                <a:latin typeface="Calibri" panose="020F0502020204030204" pitchFamily="34" charset="0"/>
                <a:cs typeface="Calibri" panose="020F0502020204030204" pitchFamily="34" charset="0"/>
              </a:rPr>
              <a:t>Socialization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600" b="1" i="1" dirty="0">
                <a:latin typeface="Calibri" panose="020F0502020204030204" pitchFamily="34" charset="0"/>
                <a:cs typeface="Calibri" panose="020F0502020204030204" pitchFamily="34" charset="0"/>
              </a:rPr>
              <a:t>Cognition</a:t>
            </a:r>
            <a:endParaRPr lang="en-US" sz="2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Plan</a:t>
            </a:r>
            <a:r>
              <a:rPr lang="en-US" sz="26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instructional activities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to foster achievement of developmental objectives</a:t>
            </a:r>
            <a:endParaRPr lang="en-US" sz="2600" b="1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sz="26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student progress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with  metrics for analyses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0724F2F-5DA6-4346-BD7E-8B04B8C18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71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1904742"/>
          </a:xfrm>
          <a:solidFill>
            <a:srgbClr val="1F497D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Brief, DTORF-R is… </a:t>
            </a:r>
            <a:br>
              <a:rPr lang="en-US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Designed to be Part of  a Comprehensive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099" y="2161358"/>
            <a:ext cx="8238588" cy="3885292"/>
          </a:xfrm>
          <a:noFill/>
        </p:spPr>
        <p:txBody>
          <a:bodyPr>
            <a:normAutofit lnSpcReduction="10000"/>
          </a:bodyPr>
          <a:lstStyle/>
          <a:p>
            <a:pPr eaLnBrk="1" hangingPunct="1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b="1" dirty="0">
                <a:ea typeface="+mn-ea"/>
              </a:rPr>
              <a:t>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DTORF-R contributes a </a:t>
            </a: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developmental dimension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to standard psychological, behavioral, and educational assessments.</a:t>
            </a: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It is especially useful when </a:t>
            </a: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social-emotional and behavioral skills need to be included in an IEP.</a:t>
            </a:r>
          </a:p>
          <a:p>
            <a:pPr marL="0" indent="0" eaLnBrk="1" hangingPunct="1">
              <a:buClr>
                <a:schemeClr val="accent2">
                  <a:lumMod val="75000"/>
                </a:schemeClr>
              </a:buClr>
              <a:buSzPct val="100000"/>
              <a:buNone/>
              <a:defRPr/>
            </a:pPr>
            <a:endParaRPr lang="en-US" sz="2600" b="1" dirty="0">
              <a:solidFill>
                <a:srgbClr val="8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hangingPunct="1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6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provides </a:t>
            </a: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direct links to stage-related teaching practices and behavioral supports.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A63628F-472A-4B28-ACDE-E65AA3819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11" y="6060248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5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0" y="330687"/>
            <a:ext cx="9144000" cy="646331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of a DTORF-R Rating, page 1</a:t>
            </a:r>
            <a:endParaRPr lang="en-US" sz="2800" b="1" dirty="0">
              <a:solidFill>
                <a:srgbClr val="FFFFFF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8000" y="1104549"/>
            <a:ext cx="7680960" cy="47851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D2409E0-1843-41FD-AB3A-CAF161449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49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1" y="297215"/>
            <a:ext cx="9143999" cy="646331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of a DTORF-R Rating, page 2</a:t>
            </a:r>
            <a:endParaRPr lang="en-US" sz="2800" b="1" dirty="0">
              <a:solidFill>
                <a:srgbClr val="FFFFFF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227" y="979487"/>
            <a:ext cx="7722704" cy="4899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E7BBBE8-33EA-4F82-B54C-E0F650BFE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67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-187960" y="479920"/>
            <a:ext cx="9143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DTORF-R Rating Rules:</a:t>
            </a:r>
          </a:p>
          <a:p>
            <a:pPr algn="ctr"/>
            <a:endParaRPr lang="en-US" sz="2800" b="1" dirty="0">
              <a:solidFill>
                <a:srgbClr val="FFFFFF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900" y="1869505"/>
            <a:ext cx="8458200" cy="38354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Every DTORF-R competency statement is rated sequentially 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 one of three ways: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Zapf Dingbats"/>
                <a:cs typeface="Calibri" panose="020F0502020204030204" pitchFamily="34" charset="0"/>
                <a:sym typeface="Zapf Dingbats"/>
              </a:rPr>
              <a:t>✔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Zapf Dingbats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Consistently demonstrates the competency in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all settings.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Ready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to work on the competency or needs to continue for  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mastery.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NR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= Not ready yet; prerequisite competencies are not yet </a:t>
            </a:r>
            <a:b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mastered.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36C7580-3933-4CE5-A652-D938FDC06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99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7360" y="325120"/>
            <a:ext cx="2346960" cy="537070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endParaRPr lang="en-US" sz="1100" b="1" dirty="0">
              <a:solidFill>
                <a:schemeClr val="bg1"/>
              </a:solidFill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Competencies rated X in each domain become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 IEP  objectives and instructional stage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781300" y="480665"/>
            <a:ext cx="56007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endParaRPr lang="en-US" b="1" dirty="0">
              <a:solidFill>
                <a:schemeClr val="bg1"/>
              </a:solidFill>
              <a:ea typeface="ＭＳ Ｐゴシック" charset="-128"/>
              <a:cs typeface="ＭＳ Ｐゴシック" charset="-128"/>
            </a:endParaRPr>
          </a:p>
          <a:p>
            <a:pPr algn="ctr">
              <a:defRPr/>
            </a:pPr>
            <a:r>
              <a:rPr lang="en-US" sz="3000" b="1" dirty="0">
                <a:solidFill>
                  <a:schemeClr val="tx2"/>
                </a:solidFill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  <a:t>Each instructional stage also has recommended positive behavioral supports for a  BIP</a:t>
            </a:r>
          </a:p>
          <a:p>
            <a:pPr algn="ctr">
              <a:defRPr/>
            </a:pPr>
            <a:r>
              <a:rPr lang="en-US" sz="3000" b="1" dirty="0">
                <a:solidFill>
                  <a:schemeClr val="tx2"/>
                </a:solidFill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  <a:t>[Behavioral Intervention Plan]</a:t>
            </a:r>
          </a:p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  <a:t>]</a:t>
            </a:r>
            <a:endParaRPr lang="en-US" sz="2800" dirty="0">
              <a:solidFill>
                <a:schemeClr val="bg1"/>
              </a:solidFill>
              <a:latin typeface="Calibri" panose="020F0502020204030204" pitchFamily="34" charset="0"/>
              <a:ea typeface="ＭＳ Ｐゴシック" charset="-128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73400" y="3283088"/>
            <a:ext cx="5207000" cy="26468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1F497D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  <a:defRPr/>
            </a:pPr>
            <a:endParaRPr lang="en-US" sz="800" b="1" dirty="0">
              <a:solidFill>
                <a:schemeClr val="bg1"/>
              </a:solidFill>
              <a:ea typeface="ＭＳ Ｐゴシック" charset="-128"/>
              <a:cs typeface="ＭＳ Ｐゴシック" charset="-128"/>
            </a:endParaRPr>
          </a:p>
          <a:p>
            <a:pPr marL="457200" indent="-457200">
              <a:buFont typeface="Arial"/>
              <a:buChar char="•"/>
              <a:defRPr/>
            </a:pPr>
            <a:r>
              <a:rPr lang="en-US" sz="2800" b="1" dirty="0">
                <a:solidFill>
                  <a:schemeClr val="bg1"/>
                </a:solidFill>
                <a:ea typeface="ＭＳ Ｐゴシック" charset="-128"/>
                <a:cs typeface="ＭＳ Ｐゴシック" charset="-128"/>
              </a:rPr>
              <a:t>Strategies used extensively </a:t>
            </a:r>
          </a:p>
          <a:p>
            <a:pPr marL="457200" indent="-457200">
              <a:buFont typeface="Arial"/>
              <a:buChar char="•"/>
              <a:defRPr/>
            </a:pPr>
            <a:r>
              <a:rPr lang="en-US" sz="2800" b="1" dirty="0">
                <a:solidFill>
                  <a:schemeClr val="bg1"/>
                </a:solidFill>
                <a:ea typeface="ＭＳ Ｐゴシック" charset="-128"/>
                <a:cs typeface="ＭＳ Ｐゴシック" charset="-128"/>
              </a:rPr>
              <a:t>Strategies used frequently as needed</a:t>
            </a:r>
          </a:p>
          <a:p>
            <a:pPr marL="457200" indent="-457200">
              <a:buFont typeface="Arial"/>
              <a:buChar char="•"/>
              <a:defRPr/>
            </a:pPr>
            <a:r>
              <a:rPr lang="en-US" sz="2800" b="1" dirty="0">
                <a:solidFill>
                  <a:srgbClr val="FFFFFF"/>
                </a:solidFill>
                <a:ea typeface="ＭＳ Ｐゴシック" charset="-128"/>
                <a:cs typeface="ＭＳ Ｐゴシック" charset="-128"/>
              </a:rPr>
              <a:t>Strategies infrequently, as needed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15398BE-D67C-49CC-BD36-66A988A00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05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106160" y="520004"/>
            <a:ext cx="2760786" cy="501675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endParaRPr lang="en-US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ea typeface="ＭＳ Ｐゴシック" charset="-128"/>
              <a:cs typeface="ＭＳ Ｐゴシック" charset="-128"/>
            </a:endParaRPr>
          </a:p>
          <a:p>
            <a:pPr algn="ctr">
              <a:defRPr/>
            </a:pPr>
            <a:endParaRPr lang="en-US" sz="800" b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  <a:p>
            <a:pPr algn="ctr">
              <a:defRPr/>
            </a:pPr>
            <a:endParaRPr lang="en-US" sz="800" b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  <a:p>
            <a:pPr algn="ctr">
              <a:defRPr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charset="-128"/>
                <a:cs typeface="Calibri" panose="020F0502020204030204" pitchFamily="34" charset="0"/>
              </a:rPr>
              <a:t>How Reliable is a Rating?</a:t>
            </a:r>
          </a:p>
          <a:p>
            <a:pPr algn="ctr">
              <a:defRPr/>
            </a:pPr>
            <a:endParaRPr lang="en-US" sz="800" b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  <a:p>
            <a:pPr algn="ctr">
              <a:defRPr/>
            </a:pPr>
            <a:endParaRPr lang="en-US" sz="800" b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  <a:p>
            <a:pPr algn="ctr">
              <a:defRPr/>
            </a:pPr>
            <a:endParaRPr lang="en-US" sz="800" b="1" dirty="0">
              <a:solidFill>
                <a:srgbClr val="FFFFFF"/>
              </a:solidFill>
              <a:ea typeface="ＭＳ Ｐゴシック" charset="-128"/>
              <a:cs typeface="ＭＳ Ｐゴシック" charset="-128"/>
            </a:endParaRPr>
          </a:p>
          <a:p>
            <a:pPr algn="ctr">
              <a:defRPr/>
            </a:pPr>
            <a:r>
              <a:rPr lang="en-US" sz="3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Ratings have high statistical reliability.</a:t>
            </a:r>
            <a:endParaRPr lang="en-US" sz="3400" dirty="0">
              <a:latin typeface="Calibri" panose="020F0502020204030204" pitchFamily="34" charset="0"/>
              <a:ea typeface="ＭＳ Ｐゴシック" charset="-128"/>
              <a:cs typeface="Calibri" panose="020F0502020204030204" pitchFamily="34" charset="0"/>
            </a:endParaRPr>
          </a:p>
          <a:p>
            <a:pPr>
              <a:defRPr/>
            </a:pPr>
            <a:endParaRPr lang="en-US" sz="2000" dirty="0">
              <a:ea typeface="ＭＳ Ｐゴシック" charset="-128"/>
              <a:cs typeface="ＭＳ Ｐゴシック" charset="-128"/>
            </a:endParaRPr>
          </a:p>
          <a:p>
            <a:pPr algn="ctr">
              <a:defRPr/>
            </a:pPr>
            <a:r>
              <a:rPr lang="en-US" sz="24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 results are in the User’s Manual.</a:t>
            </a:r>
            <a:endParaRPr lang="en-US" sz="2400" dirty="0">
              <a:solidFill>
                <a:srgbClr val="FFFFFF"/>
              </a:solidFill>
              <a:latin typeface="Calibri" panose="020F0502020204030204" pitchFamily="34" charset="0"/>
              <a:ea typeface="ＭＳ Ｐゴシック" charset="-128"/>
              <a:cs typeface="Calibri" panose="020F0502020204030204" pitchFamily="34" charset="0"/>
            </a:endParaRPr>
          </a:p>
          <a:p>
            <a:pPr>
              <a:defRPr/>
            </a:pPr>
            <a:endParaRPr lang="en-US" sz="1000" dirty="0">
              <a:ea typeface="ＭＳ Ｐゴシック" charset="-128"/>
              <a:cs typeface="ＭＳ Ｐゴシック" charset="-128"/>
            </a:endParaRPr>
          </a:p>
        </p:txBody>
      </p:sp>
      <p:sp>
        <p:nvSpPr>
          <p:cNvPr id="2" name="TextBox 1"/>
          <p:cNvSpPr txBox="1"/>
          <p:nvPr/>
        </p:nvSpPr>
        <p:spPr>
          <a:xfrm rot="10800000" flipV="1">
            <a:off x="2502519" y="-273355"/>
            <a:ext cx="3603641" cy="7078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A 3-person rating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team is recommended: teachers, parents, paraprofessionals, and other professionals on a service team. </a:t>
            </a:r>
          </a:p>
          <a:p>
            <a:endParaRPr lang="en-US" sz="2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least one team member should have reliability training in the DTORF-R</a:t>
            </a:r>
            <a:r>
              <a:rPr lang="en-US" sz="26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Older students are encouraged to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participate in their 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ratings.</a:t>
            </a:r>
          </a:p>
          <a:p>
            <a:endParaRPr 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406401" y="302360"/>
            <a:ext cx="1838960" cy="4893647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endParaRPr lang="en-US" sz="1000" dirty="0"/>
          </a:p>
          <a:p>
            <a:endParaRPr lang="en-US" sz="1200" dirty="0"/>
          </a:p>
          <a:p>
            <a:pPr algn="ctr"/>
            <a:endParaRPr lang="en-US" sz="3600" b="1" dirty="0">
              <a:solidFill>
                <a:schemeClr val="bg1"/>
              </a:solidFill>
              <a:latin typeface="Didot"/>
              <a:cs typeface="Didot"/>
            </a:endParaRP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Didot"/>
                <a:cs typeface="Didot"/>
              </a:rPr>
              <a:t>?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Does the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Rating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600" dirty="0"/>
          </a:p>
          <a:p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4F23E4B-274F-4444-A312-BF5E74467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25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76031" y="564478"/>
            <a:ext cx="6267969" cy="5669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Every DTORF-R Competency </a:t>
            </a:r>
            <a:b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Meets These Standards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US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8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4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Observable competency, not a deficit</a:t>
            </a:r>
          </a:p>
          <a:p>
            <a:pPr marL="342900" indent="-342900">
              <a:lnSpc>
                <a:spcPct val="13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Identified from research on child and 		     personality development</a:t>
            </a:r>
          </a:p>
          <a:p>
            <a:pPr marL="342900" indent="-342900">
              <a:lnSpc>
                <a:spcPct val="12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Occurs in sequence of increased 			     difficulty</a:t>
            </a:r>
          </a:p>
          <a:p>
            <a:pPr marL="342900" indent="-342900">
              <a:lnSpc>
                <a:spcPct val="14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Internal consistency across domains</a:t>
            </a:r>
          </a:p>
          <a:p>
            <a:pPr marL="342900" indent="-342900">
              <a:lnSpc>
                <a:spcPct val="14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Desired competencies for age peers </a:t>
            </a:r>
          </a:p>
          <a:p>
            <a:pPr marL="342900" indent="-342900">
              <a:lnSpc>
                <a:spcPct val="120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Conveys clear meaning for parents and 		professionals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193" y="109182"/>
            <a:ext cx="2534837" cy="541686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endParaRPr lang="en-US" sz="1000" dirty="0"/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Valid 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Content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algn="ctr"/>
            <a:endParaRPr lang="en-US" sz="3200" dirty="0">
              <a:solidFill>
                <a:schemeClr val="bg1"/>
              </a:solidFill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 analysis charts are 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  the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User’s Manual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202C07A-7474-464F-BCBF-088958CEA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852129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34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667" y="1763532"/>
            <a:ext cx="8720666" cy="3330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3500" b="1" dirty="0">
              <a:latin typeface="Didot"/>
              <a:cs typeface="Didot"/>
            </a:endParaRPr>
          </a:p>
          <a:p>
            <a:pPr marL="0" indent="0">
              <a:buNone/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When an IEP includes specific DTORF-R </a:t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goals and objectives  in each domain, you have the key characteristics for social-emotional learning. </a:t>
            </a:r>
            <a:endParaRPr lang="en-US" sz="36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86854"/>
            <a:ext cx="9144001" cy="83099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Didot"/>
                <a:cs typeface="Didot"/>
              </a:rPr>
              <a:t>NOW,  About Instruction …</a:t>
            </a:r>
            <a:r>
              <a:rPr lang="en-US" sz="4000" b="1" dirty="0">
                <a:solidFill>
                  <a:schemeClr val="bg1"/>
                </a:solidFill>
                <a:latin typeface="Didot"/>
                <a:cs typeface="Didot"/>
              </a:rPr>
              <a:t> 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59E224D-E2E2-45E7-BFFB-9FEFA2CF7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77161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16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00251"/>
            <a:ext cx="9144001" cy="160043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How Does a DTORF-R Rating</a:t>
            </a:r>
          </a:p>
          <a:p>
            <a:pPr algn="ctr">
              <a:defRPr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Guide Instruction ?</a:t>
            </a:r>
            <a:endParaRPr lang="en-US" sz="1050" b="1" dirty="0">
              <a:ln>
                <a:solidFill>
                  <a:schemeClr val="tx1"/>
                </a:solidFill>
              </a:ln>
              <a:solidFill>
                <a:srgbClr val="8E1E2D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236916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sz="2800" b="1" dirty="0"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DTORF-R competencies not mastered become</a:t>
            </a:r>
            <a:br>
              <a:rPr lang="en-US" sz="2800" b="1" dirty="0"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</a:br>
            <a:r>
              <a:rPr lang="en-US" sz="2800" b="1" dirty="0"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IEP objectives and indicate the current stage </a:t>
            </a:r>
            <a:b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</a:b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where instruction should begin </a:t>
            </a:r>
            <a:r>
              <a:rPr lang="en-US" sz="2800" b="1" dirty="0"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across the four </a:t>
            </a:r>
            <a:br>
              <a:rPr lang="en-US" sz="2800" b="1" dirty="0"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</a:br>
            <a:r>
              <a:rPr lang="en-US" sz="2800" b="1" dirty="0"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content domains</a:t>
            </a:r>
          </a:p>
          <a:p>
            <a:pPr marL="457200" indent="-4572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endParaRPr lang="en-US" sz="2800" dirty="0">
              <a:solidFill>
                <a:srgbClr val="72253C"/>
              </a:solidFill>
              <a:latin typeface="Calibri" panose="020F0502020204030204" pitchFamily="34" charset="0"/>
              <a:ea typeface="ＭＳ Ｐゴシック" pitchFamily="-110" charset="-128"/>
              <a:cs typeface="Calibri" panose="020F0502020204030204" pitchFamily="34" charset="0"/>
            </a:endParaRPr>
          </a:p>
          <a:p>
            <a:pPr marL="571500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  <a:defRPr/>
            </a:pPr>
            <a:r>
              <a:rPr lang="en-US" sz="2800" b="1" dirty="0"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Each stage has specific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developmentally matched teaching practices and positive behavioral supports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ＭＳ Ｐゴシック" pitchFamily="-110" charset="-128"/>
              <a:cs typeface="Calibri" panose="020F0502020204030204" pitchFamily="34" charset="0"/>
            </a:endParaRP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8A6C758-2D34-45B7-99A1-B537B27F3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79456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9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780904382"/>
              </p:ext>
            </p:extLst>
          </p:nvPr>
        </p:nvGraphicFramePr>
        <p:xfrm>
          <a:off x="37352" y="-37348"/>
          <a:ext cx="9106648" cy="674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/>
          <p:cNvSpPr txBox="1"/>
          <p:nvPr/>
        </p:nvSpPr>
        <p:spPr>
          <a:xfrm rot="10800000" flipV="1">
            <a:off x="0" y="65359"/>
            <a:ext cx="9144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0000"/>
                </a:solidFill>
                <a:latin typeface="Didot"/>
                <a:cs typeface="Didot"/>
              </a:rPr>
              <a:t>	</a:t>
            </a:r>
            <a:r>
              <a:rPr lang="en-US" sz="4000" b="1" dirty="0">
                <a:solidFill>
                  <a:srgbClr val="000000"/>
                </a:solidFill>
                <a:latin typeface="Didot"/>
                <a:cs typeface="Didot"/>
              </a:rPr>
              <a:t>What Next? </a:t>
            </a:r>
            <a:r>
              <a:rPr lang="en-US" sz="4000" dirty="0">
                <a:solidFill>
                  <a:srgbClr val="000000"/>
                </a:solidFill>
                <a:latin typeface="Didot"/>
                <a:cs typeface="Didot"/>
              </a:rPr>
              <a:t>Plan instruction from </a:t>
            </a:r>
          </a:p>
          <a:p>
            <a:r>
              <a:rPr lang="en-US" sz="3600" dirty="0">
                <a:solidFill>
                  <a:srgbClr val="000000"/>
                </a:solidFill>
                <a:latin typeface="Didot"/>
                <a:cs typeface="Didot"/>
              </a:rPr>
              <a:t>	a DTORF-R  Rating </a:t>
            </a:r>
            <a:r>
              <a:rPr lang="en-US" sz="3200" dirty="0">
                <a:solidFill>
                  <a:srgbClr val="000000"/>
                </a:solidFill>
                <a:latin typeface="Didot"/>
                <a:cs typeface="Didot"/>
              </a:rPr>
              <a:t>…</a:t>
            </a:r>
          </a:p>
        </p:txBody>
      </p:sp>
      <p:sp>
        <p:nvSpPr>
          <p:cNvPr id="2" name="Down Arrow 1"/>
          <p:cNvSpPr/>
          <p:nvPr/>
        </p:nvSpPr>
        <p:spPr>
          <a:xfrm>
            <a:off x="7339478" y="3510697"/>
            <a:ext cx="429537" cy="80297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Left Arrow 2"/>
          <p:cNvSpPr/>
          <p:nvPr/>
        </p:nvSpPr>
        <p:spPr>
          <a:xfrm>
            <a:off x="5490603" y="5079308"/>
            <a:ext cx="466888" cy="48463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Left Arrow 3"/>
          <p:cNvSpPr/>
          <p:nvPr/>
        </p:nvSpPr>
        <p:spPr>
          <a:xfrm>
            <a:off x="1942254" y="5079308"/>
            <a:ext cx="728345" cy="484632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urved Up Arrow 12"/>
          <p:cNvSpPr/>
          <p:nvPr/>
        </p:nvSpPr>
        <p:spPr>
          <a:xfrm flipV="1">
            <a:off x="4780931" y="1998110"/>
            <a:ext cx="1176559" cy="634914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Notched Right Arrow 13"/>
          <p:cNvSpPr/>
          <p:nvPr/>
        </p:nvSpPr>
        <p:spPr>
          <a:xfrm rot="382608">
            <a:off x="4772099" y="682704"/>
            <a:ext cx="2046082" cy="923414"/>
          </a:xfrm>
          <a:prstGeom prst="notchedRightArrow">
            <a:avLst/>
          </a:prstGeom>
          <a:solidFill>
            <a:srgbClr val="FFFFFF"/>
          </a:solidFill>
          <a:ln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Alternate Process 14"/>
          <p:cNvSpPr/>
          <p:nvPr/>
        </p:nvSpPr>
        <p:spPr>
          <a:xfrm>
            <a:off x="186755" y="1362541"/>
            <a:ext cx="2185035" cy="2558983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 algn="ctr"/>
            <a:r>
              <a:rPr lang="en-US" sz="2400" b="1" dirty="0">
                <a:solidFill>
                  <a:srgbClr val="FFFFFF"/>
                </a:solidFill>
              </a:rPr>
              <a:t>Select NEW competencies</a:t>
            </a:r>
          </a:p>
          <a:p>
            <a:pPr lvl="0" algn="ctr"/>
            <a:r>
              <a:rPr lang="en-US" sz="2400" b="1" dirty="0">
                <a:solidFill>
                  <a:srgbClr val="FFFFFF"/>
                </a:solidFill>
              </a:rPr>
              <a:t> modify instruction, </a:t>
            </a:r>
          </a:p>
          <a:p>
            <a:pPr lvl="0" algn="ctr"/>
            <a:r>
              <a:rPr lang="en-US" sz="2400" b="1" dirty="0">
                <a:solidFill>
                  <a:srgbClr val="FFFFFF"/>
                </a:solidFill>
              </a:rPr>
              <a:t> or exit program.</a:t>
            </a:r>
          </a:p>
          <a:p>
            <a:pPr lvl="0" algn="ctr"/>
            <a:endParaRPr lang="en-US" sz="2400" b="1" dirty="0">
              <a:solidFill>
                <a:srgbClr val="FFFFFF"/>
              </a:solidFill>
            </a:endParaRPr>
          </a:p>
          <a:p>
            <a:pPr lvl="0" algn="ctr"/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16" name="Curved Down Arrow 15"/>
          <p:cNvSpPr/>
          <p:nvPr/>
        </p:nvSpPr>
        <p:spPr>
          <a:xfrm>
            <a:off x="2222387" y="1577268"/>
            <a:ext cx="1344637" cy="570234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Up Arrow 16"/>
          <p:cNvSpPr/>
          <p:nvPr/>
        </p:nvSpPr>
        <p:spPr>
          <a:xfrm>
            <a:off x="1064504" y="3772133"/>
            <a:ext cx="410862" cy="541543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018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553" y="177421"/>
            <a:ext cx="2476716" cy="5486400"/>
          </a:xfrm>
          <a:solidFill>
            <a:schemeClr val="accent2">
              <a:lumMod val="75000"/>
            </a:schemeClr>
          </a:solidFill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100" b="1" dirty="0">
                <a:solidFill>
                  <a:srgbClr val="FFFFFF"/>
                </a:solidFill>
                <a:latin typeface="Didot"/>
                <a:ea typeface="ＭＳ Ｐゴシック" charset="0"/>
                <a:cs typeface="Didot"/>
              </a:rPr>
              <a:t/>
            </a:r>
            <a:br>
              <a:rPr lang="en-US" sz="100" b="1" dirty="0">
                <a:solidFill>
                  <a:srgbClr val="FFFFFF"/>
                </a:solidFill>
                <a:latin typeface="Didot"/>
                <a:ea typeface="ＭＳ Ｐゴシック" charset="0"/>
                <a:cs typeface="Didot"/>
              </a:rPr>
            </a:br>
            <a:r>
              <a:rPr lang="en-US" sz="100" b="1" dirty="0">
                <a:solidFill>
                  <a:srgbClr val="FFFFFF"/>
                </a:solidFill>
                <a:latin typeface="Didot"/>
                <a:ea typeface="ＭＳ Ｐゴシック" charset="0"/>
                <a:cs typeface="Didot"/>
              </a:rPr>
              <a:t>?</a:t>
            </a:r>
            <a:r>
              <a:rPr lang="en-US" b="1" dirty="0">
                <a:solidFill>
                  <a:srgbClr val="FFFFFF"/>
                </a:solidFill>
                <a:latin typeface="Didot"/>
                <a:ea typeface="ＭＳ Ｐゴシック" charset="0"/>
                <a:cs typeface="Didot"/>
              </a:rPr>
              <a:t/>
            </a:r>
            <a:br>
              <a:rPr lang="en-US" b="1" dirty="0">
                <a:solidFill>
                  <a:srgbClr val="FFFFFF"/>
                </a:solidFill>
                <a:latin typeface="Didot"/>
                <a:ea typeface="ＭＳ Ｐゴシック" charset="0"/>
                <a:cs typeface="Didot"/>
              </a:rPr>
            </a:br>
            <a:r>
              <a:rPr lang="en-US" b="1" dirty="0">
                <a:solidFill>
                  <a:srgbClr val="FFFFFF"/>
                </a:solidFill>
                <a:latin typeface="Didot"/>
                <a:ea typeface="ＭＳ Ｐゴシック" charset="0"/>
                <a:cs typeface="Didot"/>
              </a:rPr>
              <a:t>?</a:t>
            </a:r>
            <a:br>
              <a:rPr lang="en-US" b="1" dirty="0">
                <a:solidFill>
                  <a:srgbClr val="FFFFFF"/>
                </a:solidFill>
                <a:latin typeface="Didot"/>
                <a:ea typeface="ＭＳ Ｐゴシック" charset="0"/>
                <a:cs typeface="Didot"/>
              </a:rPr>
            </a:b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How do Teachers Change Instruction from </a:t>
            </a:r>
            <a:b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Stage </a:t>
            </a:r>
            <a:b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to </a:t>
            </a:r>
            <a:b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Stage</a:t>
            </a:r>
            <a:b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</a:b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3253840" y="505122"/>
            <a:ext cx="5091413" cy="584775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400" b="1" dirty="0">
                <a:latin typeface="Calibri" panose="020F0502020204030204" pitchFamily="34" charset="0"/>
                <a:cs typeface="Calibri" panose="020F0502020204030204" pitchFamily="34" charset="0"/>
              </a:rPr>
              <a:t>DTT teachers </a:t>
            </a:r>
            <a:r>
              <a:rPr lang="en-US" sz="3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adjust instruction</a:t>
            </a:r>
            <a:r>
              <a:rPr lang="en-US" sz="3400" b="1" dirty="0">
                <a:latin typeface="Calibri" panose="020F0502020204030204" pitchFamily="34" charset="0"/>
                <a:cs typeface="Calibri" panose="020F0502020204030204" pitchFamily="34" charset="0"/>
              </a:rPr>
              <a:t>—goals, content, materials, learning environments,             </a:t>
            </a:r>
            <a:br>
              <a:rPr lang="en-US" sz="3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400" b="1" dirty="0">
                <a:latin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US" sz="3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3400" b="1" dirty="0">
                <a:solidFill>
                  <a:srgbClr val="8E1E2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defRPr/>
            </a:pPr>
            <a:r>
              <a:rPr lang="en-US" sz="3400" b="1" dirty="0">
                <a:latin typeface="Calibri" panose="020F0502020204030204" pitchFamily="34" charset="0"/>
                <a:cs typeface="Calibri" panose="020F0502020204030204" pitchFamily="34" charset="0"/>
              </a:rPr>
              <a:t>behavioral supports—to students’ stages of development. They also </a:t>
            </a:r>
            <a:r>
              <a:rPr lang="en-US" sz="3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adjust their roles </a:t>
            </a:r>
            <a:r>
              <a:rPr lang="en-US" sz="3400" b="1" dirty="0">
                <a:latin typeface="Calibri" panose="020F0502020204030204" pitchFamily="34" charset="0"/>
                <a:cs typeface="Calibri" panose="020F0502020204030204" pitchFamily="34" charset="0"/>
              </a:rPr>
              <a:t>as significant adults, mentors, and role models.</a:t>
            </a:r>
            <a:endParaRPr lang="en-US" sz="3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C739605-8F72-455B-8427-E5C6CC197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47" y="591600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118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969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2830"/>
            <a:ext cx="9048466" cy="2238233"/>
          </a:xfrm>
          <a:solidFill>
            <a:schemeClr val="accent2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Help for Teachers: </a:t>
            </a:r>
            <a:b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4000" i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Developmental Teaching Inventory of Teacher Skills </a:t>
            </a:r>
            <a:r>
              <a:rPr lang="en-US" sz="40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(DTRITS)</a:t>
            </a:r>
            <a:endParaRPr lang="en-US" dirty="0">
              <a:solidFill>
                <a:srgbClr val="FFFFFF"/>
              </a:solidFill>
              <a:latin typeface="Didot"/>
              <a:cs typeface="Dido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502307"/>
            <a:ext cx="9144000" cy="3188810"/>
          </a:xfrm>
          <a:noFill/>
        </p:spPr>
        <p:txBody>
          <a:bodyPr>
            <a:noAutofit/>
          </a:bodyPr>
          <a:lstStyle/>
          <a:p>
            <a:pPr lvl="1">
              <a:lnSpc>
                <a:spcPct val="11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Self-assessment of teaching practices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matched to students’ developmental 	stages</a:t>
            </a:r>
          </a:p>
          <a:p>
            <a:pPr lvl="1">
              <a:lnSpc>
                <a:spcPct val="11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Observation tool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to assess additional  	professional needs of teaching teams</a:t>
            </a:r>
          </a:p>
          <a:p>
            <a:pPr lvl="1">
              <a:lnSpc>
                <a:spcPct val="110000"/>
              </a:lnSpc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tool for program development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relating fidelity </a:t>
            </a:r>
            <a:b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of teacher practices to student progress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CB69BA7-5C7A-496B-8C9B-E28BC22C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832361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21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327547"/>
            <a:ext cx="9144000" cy="941695"/>
          </a:xfrm>
          <a:solidFill>
            <a:schemeClr val="accent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DTT Empowers a Teaching Team to…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742" y="1571974"/>
            <a:ext cx="8826516" cy="3914425"/>
          </a:xfrm>
          <a:noFill/>
        </p:spPr>
        <p:txBody>
          <a:bodyPr>
            <a:noAutofit/>
          </a:bodyPr>
          <a:lstStyle/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8E1E2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Focus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on social-emotional and behavioral objectives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8E1E2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Listen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respond with empathy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8E1E2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Decode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 student’s surface  behavior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8E1E2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developmentally appropriate behavioral supports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8E1E2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Demonstrate 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psychological importance of schedule,          materials, and activities</a:t>
            </a: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8E1E2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Adjust 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adults roles to a student’s stage of development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44E6E7A-71B1-4930-925F-F02F2F47E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789131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07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3"/>
          <p:cNvSpPr>
            <a:spLocks noGrp="1" noChangeArrowheads="1" noChangeShapeType="1" noTextEdit="1"/>
          </p:cNvSpPr>
          <p:nvPr>
            <p:ph type="title"/>
          </p:nvPr>
        </p:nvSpPr>
        <p:spPr bwMode="auto">
          <a:xfrm>
            <a:off x="599090" y="378372"/>
            <a:ext cx="8087710" cy="1039266"/>
          </a:xfrm>
          <a:prstGeom prst="rect">
            <a:avLst/>
          </a:prstGeom>
          <a:extLst>
            <a:ext uri="{91240B29-F687-4f45-9708-019B960494DF}">
              <a14:hiddenLine xmlns="" xmlns:a14="http://schemas.microsoft.com/office/drawing/2010/main" w="9525" cap="sq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>
              <a:defRPr/>
            </a:pPr>
            <a:r>
              <a:rPr lang="en-US" sz="3600" b="1" kern="10" dirty="0">
                <a:solidFill>
                  <a:schemeClr val="tx2">
                    <a:lumMod val="75000"/>
                  </a:schemeClr>
                </a:solidFill>
                <a:effectLst>
                  <a:outerShdw blurRad="63500" dist="53882" dir="2700000" algn="ctr" rotWithShape="0">
                    <a:srgbClr val="C0C0C0">
                      <a:alpha val="74998"/>
                    </a:srgbClr>
                  </a:outerShdw>
                </a:effectLst>
                <a:latin typeface="Times New Roman"/>
                <a:ea typeface="Times New Roman"/>
                <a:cs typeface="Times New Roman"/>
              </a:rPr>
              <a:t>Behave, Speak, Relate, and Think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457" y="1642819"/>
            <a:ext cx="8609412" cy="1242271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en-US" sz="3600" b="1" dirty="0"/>
          </a:p>
          <a:p>
            <a:pPr eaLnBrk="1" hangingPunct="1">
              <a:buFont typeface="Wingdings" panose="05000000000000000000" pitchFamily="2" charset="2"/>
              <a:buChar char="ü"/>
              <a:defRPr/>
            </a:pPr>
            <a:endParaRPr lang="en-US" sz="1100" b="1" dirty="0">
              <a:solidFill>
                <a:srgbClr val="800000"/>
              </a:solidFill>
            </a:endParaRPr>
          </a:p>
          <a:p>
            <a:pPr marL="0" indent="0" eaLnBrk="1" hangingPunct="1">
              <a:buNone/>
              <a:defRPr/>
            </a:pPr>
            <a:r>
              <a:rPr lang="en-US" sz="2800" b="1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607726"/>
            <a:ext cx="9144001" cy="98488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Linking Assessment to Accountability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61457" y="2885090"/>
            <a:ext cx="860941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Every year teachers are asked to document how classroom practices are effecting change and student outcomes</a:t>
            </a:r>
          </a:p>
          <a:p>
            <a:pPr marL="457200" indent="-4572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With DTT, you have several options for demonstrating how assessment and classroom practices result in student progress</a:t>
            </a:r>
            <a:endParaRPr lang="en-US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9B31A0C-DF3F-49AE-844B-F4549AC4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82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23111"/>
            <a:ext cx="9144001" cy="1323439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Rating Team can Predict IEP Outcome Goals for Each Domain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32833" y="1532368"/>
            <a:ext cx="825607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Example of predicted outcome goals and objectives for BEHAVIOR domain</a:t>
            </a:r>
            <a:endParaRPr lang="en-US" sz="2800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/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sz="2800" dirty="0"/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Student currently demonstrates  3 of the 7 competencies in Stage Three in Behavior. 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2. By the end of this IEP [June], student will demonstrate the use of 6 of the 7  behavior competencies in Stage Three, with 90% mastery.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3. The overall behavioral goal for student in Stage Three is to </a:t>
            </a:r>
            <a:r>
              <a:rPr lang="en-US" sz="2400" b="1" i="1" dirty="0">
                <a:latin typeface="Calibri" panose="020F0502020204030204" pitchFamily="34" charset="0"/>
                <a:cs typeface="Calibri" panose="020F0502020204030204" pitchFamily="34" charset="0"/>
              </a:rPr>
              <a:t>use acceptable behavior in a group.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3B0E397-D9AC-4E70-A3FB-5C6DE5669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89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265" y="136759"/>
            <a:ext cx="9144001" cy="132343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of an Individual Student Progress Record Started Online</a:t>
            </a:r>
            <a:endParaRPr lang="en-US" b="1" dirty="0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550701"/>
              </p:ext>
            </p:extLst>
          </p:nvPr>
        </p:nvGraphicFramePr>
        <p:xfrm>
          <a:off x="1248834" y="1259525"/>
          <a:ext cx="6646332" cy="3953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Document" r:id="rId4" imgW="5638800" imgH="2895600" progId="Word.Document.12">
                  <p:embed/>
                </p:oleObj>
              </mc:Choice>
              <mc:Fallback>
                <p:oleObj name="Document" r:id="rId4" imgW="5638800" imgH="28956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48834" y="1259525"/>
                        <a:ext cx="6646332" cy="39539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10937" y="5644023"/>
            <a:ext cx="6646331" cy="107721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800" b="1" dirty="0">
              <a:solidFill>
                <a:schemeClr val="bg1"/>
              </a:solidFill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Pause to Practice: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Worksheet for Baseline Summary</a:t>
            </a:r>
            <a:endParaRPr lang="en-US" sz="2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569204E-7C5D-4452-8B4B-FAFD11597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659" y="5801039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93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Box 1"/>
          <p:cNvSpPr txBox="1">
            <a:spLocks noChangeArrowheads="1"/>
          </p:cNvSpPr>
          <p:nvPr/>
        </p:nvSpPr>
        <p:spPr bwMode="auto">
          <a:xfrm>
            <a:off x="191538" y="2135170"/>
            <a:ext cx="8497614" cy="4093428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endParaRPr lang="en-US" sz="1800" dirty="0"/>
          </a:p>
          <a:p>
            <a:pPr marL="457200" indent="-4572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2800" dirty="0">
                <a:latin typeface="+mn-lt"/>
              </a:rPr>
              <a:t>   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Repeated ratings are scheduled to coincide with </a:t>
            </a:r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rating /grading periods</a:t>
            </a:r>
          </a:p>
          <a:p>
            <a:pPr marL="457200" indent="-457200">
              <a:buClr>
                <a:srgbClr val="C00000"/>
              </a:buClr>
              <a:buFont typeface="Wingdings" panose="05000000000000000000" pitchFamily="2" charset="2"/>
              <a:buChar char="ü"/>
            </a:pP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	Repeated ratings can be reported for </a:t>
            </a:r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individuals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or aggregated for </a:t>
            </a:r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group progress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trends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, and for </a:t>
            </a:r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descriptive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32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inferential statistics</a:t>
            </a:r>
          </a:p>
          <a:p>
            <a:pPr eaLnBrk="1" hangingPunct="1"/>
            <a:endParaRPr lang="en-US" sz="1800" dirty="0"/>
          </a:p>
        </p:txBody>
      </p:sp>
      <p:sp>
        <p:nvSpPr>
          <p:cNvPr id="2" name="TextBox 1"/>
          <p:cNvSpPr txBox="1"/>
          <p:nvPr/>
        </p:nvSpPr>
        <p:spPr>
          <a:xfrm>
            <a:off x="1" y="350700"/>
            <a:ext cx="9143999" cy="14850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1050" dirty="0">
              <a:solidFill>
                <a:schemeClr val="bg1"/>
              </a:solidFill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REPORTING STUDENT PROGRESS—How Often? </a:t>
            </a:r>
            <a:endParaRPr lang="en-US" sz="4400" dirty="0">
              <a:solidFill>
                <a:schemeClr val="bg1"/>
              </a:solidFill>
              <a:latin typeface="Eurostile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5B1320E-EE6C-496D-BEC3-8D934D236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86" y="5847005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4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" y="159266"/>
            <a:ext cx="9144000" cy="132343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Student’s End-of-Year Rating is Added to the Online Progress Record</a:t>
            </a:r>
            <a:endParaRPr lang="en-US" sz="4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928527"/>
              </p:ext>
            </p:extLst>
          </p:nvPr>
        </p:nvGraphicFramePr>
        <p:xfrm>
          <a:off x="300251" y="1146410"/>
          <a:ext cx="8488907" cy="4140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Document" r:id="rId4" imgW="5638800" imgH="2540000" progId="Word.Document.12">
                  <p:embed/>
                </p:oleObj>
              </mc:Choice>
              <mc:Fallback>
                <p:oleObj name="Document" r:id="rId4" imgW="5638800" imgH="25400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251" y="1146410"/>
                        <a:ext cx="8488907" cy="41407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156346" y="5287203"/>
            <a:ext cx="7014188" cy="150810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800" b="1" dirty="0">
              <a:solidFill>
                <a:schemeClr val="bg1"/>
              </a:solidFill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Pause to Practice: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 to Worksheet for Student’s End-of-Year Summary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5ADE8D-1F5E-4D07-836E-158D31207B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06" y="571159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936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36700" y="37465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23080" y="1163141"/>
            <a:ext cx="8625385" cy="44196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70000"/>
              </a:lnSpc>
              <a:buFont typeface="Wingdings" panose="05000000000000000000" pitchFamily="2" charset="2"/>
              <a:buChar char="Ø"/>
            </a:pPr>
            <a:endParaRPr lang="en-US" sz="3600" b="1" dirty="0">
              <a:solidFill>
                <a:schemeClr val="bg1"/>
              </a:solidFill>
            </a:endParaRPr>
          </a:p>
          <a:p>
            <a:pPr marL="571500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Option 1: Pre- to post- comparison of </a:t>
            </a:r>
            <a:b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a student’s scores (c. 4). </a:t>
            </a:r>
            <a:endParaRPr lang="en-US" sz="3200" b="1" dirty="0">
              <a:ln>
                <a:solidFill>
                  <a:schemeClr val="tx1"/>
                </a:solidFill>
              </a:ln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Option 2: Comparison  to age peer </a:t>
            </a:r>
            <a:b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score (c. 9). </a:t>
            </a:r>
            <a:endParaRPr lang="en-US" sz="3200" b="1" dirty="0">
              <a:ln>
                <a:solidFill>
                  <a:schemeClr val="tx1"/>
                </a:solidFill>
              </a:ln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sz="3200" b="1" dirty="0">
              <a:ln>
                <a:solidFill>
                  <a:schemeClr val="tx1"/>
                </a:solidFill>
              </a:ln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Option 3: Comparison with pre-intervention rate of item mastery (c. 6).</a:t>
            </a:r>
            <a:r>
              <a:rPr lang="en-US" sz="3200" b="1" dirty="0">
                <a:ln>
                  <a:solidFill>
                    <a:schemeClr val="tx1"/>
                  </a:solidFill>
                </a:ln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13898" y="3937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to do With These Results?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053684B-281C-42A6-9EE7-8B003E3C2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5727020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9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0" y="139174"/>
            <a:ext cx="9144000" cy="584776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of Options for Reporting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5895" y="4723137"/>
            <a:ext cx="40513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halkboard"/>
                <a:cs typeface="Chalkboard"/>
              </a:rPr>
              <a:t>Pre-post comparison (108 to 117) shows Tony gained 9 competencies in 17 months. Comparing to age peers, the gap has narrowed from 79% at baseline to 84% at end of school year.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43147" y="4820693"/>
            <a:ext cx="36449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halkboard"/>
                <a:cs typeface="Chalkboard"/>
              </a:rPr>
              <a:t>Pre-intervention rate (.79) multiplied by 7 months added to baseline score (108) gives an estimate of an end of year score (115) without the current intervention program. </a:t>
            </a:r>
          </a:p>
        </p:txBody>
      </p:sp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2144578184"/>
              </p:ext>
            </p:extLst>
          </p:nvPr>
        </p:nvGraphicFramePr>
        <p:xfrm>
          <a:off x="692666" y="850900"/>
          <a:ext cx="3523734" cy="397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Chart 19"/>
          <p:cNvGraphicFramePr/>
          <p:nvPr>
            <p:extLst>
              <p:ext uri="{D42A27DB-BD31-4B8C-83A1-F6EECF244321}">
                <p14:modId xmlns:p14="http://schemas.microsoft.com/office/powerpoint/2010/main" val="4157708035"/>
              </p:ext>
            </p:extLst>
          </p:nvPr>
        </p:nvGraphicFramePr>
        <p:xfrm>
          <a:off x="4396475" y="757350"/>
          <a:ext cx="4597400" cy="412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2DDF844-005D-4780-B4AD-E4743A543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736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446551"/>
            <a:ext cx="88573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You will need: 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Student’s age in months and total DTORF-R score (items mastered) at baseline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Months between each rating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Age peer scores found in the Developmental Age Scores tables, DTORF-R User’s Manual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46"/>
            <a:ext cx="84889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Didot"/>
                <a:cs typeface="Didot"/>
              </a:rPr>
              <a:t>No E-DTORF ?  You Can Calculate Summary Options Manually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3979953-18D1-4369-84D2-CB6347FDD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6017273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5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266274"/>
              </p:ext>
            </p:extLst>
          </p:nvPr>
        </p:nvGraphicFramePr>
        <p:xfrm>
          <a:off x="254002" y="1906515"/>
          <a:ext cx="8496299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89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3466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585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32945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Baseline competencies 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</a:rPr>
                        <a:t>achieved —</a:t>
                      </a:r>
                    </a:p>
                    <a:p>
                      <a:r>
                        <a:rPr lang="en-US" sz="2000" baseline="0" dirty="0">
                          <a:solidFill>
                            <a:srgbClr val="000000"/>
                          </a:solidFill>
                        </a:rPr>
                        <a:t>November</a:t>
                      </a:r>
                      <a:endParaRPr 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</a:rPr>
                        <a:t>End of year competencies achieved</a:t>
                      </a:r>
                      <a:r>
                        <a:rPr lang="en-US" sz="2000" baseline="0" dirty="0">
                          <a:solidFill>
                            <a:srgbClr val="000000"/>
                          </a:solidFill>
                        </a:rPr>
                        <a:t> —</a:t>
                      </a:r>
                    </a:p>
                    <a:p>
                      <a:r>
                        <a:rPr lang="en-US" sz="2000" baseline="0" dirty="0">
                          <a:solidFill>
                            <a:srgbClr val="000000"/>
                          </a:solidFill>
                        </a:rPr>
                        <a:t>June</a:t>
                      </a:r>
                      <a:endParaRPr lang="en-US" sz="20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Gain</a:t>
                      </a:r>
                      <a:r>
                        <a:rPr lang="en-US" sz="2400" baseline="0" dirty="0">
                          <a:solidFill>
                            <a:srgbClr val="000000"/>
                          </a:solidFill>
                        </a:rPr>
                        <a:t> in Milestone Competencies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5678">
                <a:tc>
                  <a:txBody>
                    <a:bodyPr/>
                    <a:lstStyle/>
                    <a:p>
                      <a:r>
                        <a:rPr lang="en-US" sz="2400" dirty="0"/>
                        <a:t>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+4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55678">
                <a:tc>
                  <a:txBody>
                    <a:bodyPr/>
                    <a:lstStyle/>
                    <a:p>
                      <a:r>
                        <a:rPr lang="en-US" sz="2400" dirty="0"/>
                        <a:t>COMMUNICATON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55678">
                <a:tc>
                  <a:txBody>
                    <a:bodyPr/>
                    <a:lstStyle/>
                    <a:p>
                      <a:r>
                        <a:rPr lang="en-US" sz="2400" dirty="0"/>
                        <a:t>SOCIALIZATION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07939">
                <a:tc>
                  <a:txBody>
                    <a:bodyPr/>
                    <a:lstStyle/>
                    <a:p>
                      <a:r>
                        <a:rPr lang="en-US" sz="2400" u="sng" dirty="0"/>
                        <a:t>COGNITION</a:t>
                      </a:r>
                      <a:r>
                        <a:rPr lang="en-US" sz="2400" u="sng" baseline="0" dirty="0"/>
                        <a:t>                 </a:t>
                      </a:r>
                      <a:endParaRPr lang="en-US" sz="2400" u="sng" dirty="0"/>
                    </a:p>
                    <a:p>
                      <a:r>
                        <a:rPr lang="en-US" sz="2400" u="none" dirty="0"/>
                        <a:t>                </a:t>
                      </a:r>
                      <a:r>
                        <a:rPr lang="en-US" sz="2800" b="1" u="none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2400" b="1" u="none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u="sng" dirty="0"/>
                        <a:t>51__</a:t>
                      </a:r>
                    </a:p>
                    <a:p>
                      <a:r>
                        <a:rPr lang="en-US" sz="2800" b="1" u="none" dirty="0">
                          <a:solidFill>
                            <a:srgbClr val="1F497D"/>
                          </a:solidFill>
                        </a:rPr>
                        <a:t>108</a:t>
                      </a:r>
                      <a:endParaRPr lang="en-US" sz="2400" b="1" u="none" dirty="0">
                        <a:solidFill>
                          <a:srgbClr val="1F497D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u="sng" dirty="0"/>
                        <a:t>53__</a:t>
                      </a:r>
                    </a:p>
                    <a:p>
                      <a:r>
                        <a:rPr lang="en-US" sz="2800" b="1" u="none" dirty="0">
                          <a:solidFill>
                            <a:srgbClr val="1F497D"/>
                          </a:solidFill>
                        </a:rPr>
                        <a:t>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u="sng" dirty="0"/>
                        <a:t>+2__</a:t>
                      </a:r>
                    </a:p>
                    <a:p>
                      <a:r>
                        <a:rPr lang="en-US" sz="2800" b="1" u="none" dirty="0">
                          <a:solidFill>
                            <a:srgbClr val="1F497D"/>
                          </a:solidFill>
                        </a:rPr>
                        <a:t>+9</a:t>
                      </a:r>
                      <a:endParaRPr lang="en-US" sz="2400" u="sng" dirty="0"/>
                    </a:p>
                    <a:p>
                      <a:endParaRPr lang="en-US" sz="240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259308"/>
            <a:ext cx="9144001" cy="1477328"/>
          </a:xfrm>
          <a:prstGeom prst="rect">
            <a:avLst/>
          </a:prstGeom>
          <a:solidFill>
            <a:srgbClr val="1F497D"/>
          </a:solidFill>
        </p:spPr>
        <p:txBody>
          <a:bodyPr wrap="square" rtlCol="0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An Easy Do-It-Yourself Option to Summarize Student Annual Progress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5438FFC-3979-40CC-9FEA-1A7CC2A57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870561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096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3338" y="122830"/>
            <a:ext cx="5321299" cy="1754326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Another Do-It-Yourself Option: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Color-Coded Bar Graph</a:t>
            </a:r>
            <a:r>
              <a:rPr lang="en-US" sz="32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7842" y="1581579"/>
            <a:ext cx="5460999" cy="36933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 </a:t>
            </a:r>
          </a:p>
          <a:p>
            <a:pPr>
              <a:defRPr/>
            </a:pPr>
            <a:endParaRPr lang="en-US" sz="2000" dirty="0">
              <a:ln>
                <a:solidFill>
                  <a:schemeClr val="tx1"/>
                </a:solidFill>
              </a:ln>
              <a:solidFill>
                <a:schemeClr val="tx2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>
              <a:defRPr/>
            </a:pP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Yellow cells = competencies.</a:t>
            </a:r>
          </a:p>
          <a:p>
            <a:pPr>
              <a:defRPr/>
            </a:pP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ＭＳ Ｐゴシック" pitchFamily="-110" charset="-128"/>
                <a:cs typeface="Calibri" panose="020F0502020204030204" pitchFamily="34" charset="0"/>
              </a:rPr>
              <a:t>Penciled cells = current objectives</a:t>
            </a:r>
          </a:p>
          <a:p>
            <a:pPr>
              <a:defRPr/>
            </a:pPr>
            <a:endParaRPr lang="en-US" sz="3200" b="1" dirty="0">
              <a:ln>
                <a:solidFill>
                  <a:schemeClr val="tx1"/>
                </a:solidFill>
              </a:ln>
              <a:solidFill>
                <a:srgbClr val="000000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>
              <a:lnSpc>
                <a:spcPct val="50000"/>
              </a:lnSpc>
            </a:pPr>
            <a:endParaRPr lang="en-US" sz="2800" b="1" dirty="0">
              <a:solidFill>
                <a:srgbClr val="000000"/>
              </a:solidFill>
              <a:latin typeface="Arial Black"/>
              <a:cs typeface="Arial Black"/>
            </a:endParaRPr>
          </a:p>
          <a:p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Mid year and final DTORF-R </a:t>
            </a:r>
          </a:p>
          <a:p>
            <a:r>
              <a:rPr lang="en-US" sz="28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ratings are added to illustrate student progress visually.</a:t>
            </a:r>
            <a:endParaRPr lang="en-US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Tony, 2nd Rating, DT Objectives Rating Form Summary (DTORF-R)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821" y="0"/>
            <a:ext cx="339629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6E98420-536F-40F7-B9B2-CEF157BEA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5684856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938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1841242"/>
            <a:ext cx="9144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bg1"/>
              </a:solidFill>
            </a:endParaRPr>
          </a:p>
          <a:p>
            <a:pPr marL="1028700" lvl="1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Scores must be ratings during similar</a:t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time intervals</a:t>
            </a:r>
          </a:p>
          <a:p>
            <a:pPr marL="1028700" lvl="1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28700" lvl="1" indent="-57150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>Intervals less than 2 months or greater than 9 months should be excluded</a:t>
            </a:r>
            <a:endParaRPr lang="en-US" sz="4400" dirty="0">
              <a:solidFill>
                <a:schemeClr val="bg1"/>
              </a:solidFill>
              <a:latin typeface="Eurostile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" y="728739"/>
            <a:ext cx="8907516" cy="76944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Aggregating Group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22902DD-A9D3-4442-9754-7BDABFE4C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59" y="5747668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662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-206676" y="214019"/>
            <a:ext cx="8586401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Statistical Comparison</a:t>
            </a:r>
          </a:p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Pre- to Post-Outcome  Scores </a:t>
            </a:r>
          </a:p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2,082 Students </a:t>
            </a:r>
          </a:p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[using paired sample t-tests]</a:t>
            </a:r>
            <a:endParaRPr lang="en-US" sz="40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13667" y="338666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926686"/>
              </p:ext>
            </p:extLst>
          </p:nvPr>
        </p:nvGraphicFramePr>
        <p:xfrm>
          <a:off x="0" y="3083848"/>
          <a:ext cx="9144004" cy="2511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Initial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Final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52577">
                <a:tc>
                  <a:txBody>
                    <a:bodyPr/>
                    <a:lstStyle/>
                    <a:p>
                      <a:r>
                        <a:rPr lang="en-US" dirty="0" err="1"/>
                        <a:t>PreK</a:t>
                      </a:r>
                      <a:r>
                        <a:rPr lang="en-US" dirty="0"/>
                        <a:t>/Elementary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87.97*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0044">
                <a:tc>
                  <a:txBody>
                    <a:bodyPr/>
                    <a:lstStyle/>
                    <a:p>
                      <a:r>
                        <a:rPr lang="en-US" dirty="0"/>
                        <a:t>Middle School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104.30*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81830">
                <a:tc>
                  <a:txBody>
                    <a:bodyPr/>
                    <a:lstStyle/>
                    <a:p>
                      <a:r>
                        <a:rPr lang="en-US" dirty="0"/>
                        <a:t>High School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115.57*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13667" y="5713733"/>
            <a:ext cx="5488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*statistically significant progress  (p value &lt;.0001)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20B3A90-B6B3-46E0-A797-2348DA0B7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810176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460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101478"/>
            <a:ext cx="8761863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Example: Students’ Pre- to Post-</a:t>
            </a:r>
          </a:p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Outcome  Scores at Center Based </a:t>
            </a:r>
          </a:p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School Based Locations</a:t>
            </a:r>
          </a:p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[using paired sample t-tests]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13667" y="338666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748836"/>
              </p:ext>
            </p:extLst>
          </p:nvPr>
        </p:nvGraphicFramePr>
        <p:xfrm>
          <a:off x="0" y="2958046"/>
          <a:ext cx="9144004" cy="2419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055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Initial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 Final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5592">
                <a:tc>
                  <a:txBody>
                    <a:bodyPr/>
                    <a:lstStyle/>
                    <a:p>
                      <a:r>
                        <a:rPr lang="en-US" dirty="0"/>
                        <a:t>Center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102.03*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07988">
                <a:tc>
                  <a:txBody>
                    <a:bodyPr/>
                    <a:lstStyle/>
                    <a:p>
                      <a:r>
                        <a:rPr lang="en-US" dirty="0"/>
                        <a:t>School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112</a:t>
                      </a:r>
                      <a:r>
                        <a:rPr lang="en-US" baseline="0" dirty="0"/>
                        <a:t> .7</a:t>
                      </a:r>
                      <a:r>
                        <a:rPr lang="en-US" dirty="0"/>
                        <a:t>7*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513667" y="5525352"/>
            <a:ext cx="5630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*statistically significant progress  (p value &lt;.0001)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6C1FB70-915D-4EB2-B5F6-F861176B5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848517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743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92009" y="192269"/>
            <a:ext cx="8954813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Close: Accountability Can Be</a:t>
            </a:r>
          </a:p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 and Efficient — </a:t>
            </a:r>
            <a:b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Online DTORF Automatically!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" y="1924951"/>
            <a:ext cx="9143999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1028700" lvl="1" indent="-571500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Record ratings as you make them. </a:t>
            </a:r>
          </a:p>
          <a:p>
            <a:pPr marL="1028700" lvl="1" indent="-571500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Print and summarize results. </a:t>
            </a:r>
          </a:p>
          <a:p>
            <a:pPr marL="1028700" lvl="1" indent="-571500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Print selected instructional </a:t>
            </a:r>
            <a:b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	objectives for an IEP.</a:t>
            </a:r>
          </a:p>
          <a:p>
            <a:pPr marL="1028700" lvl="1" indent="-571500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Print recommended behavioral supports from </a:t>
            </a:r>
          </a:p>
          <a:p>
            <a:pPr lvl="1">
              <a:buClr>
                <a:schemeClr val="accent2">
                  <a:lumMod val="75000"/>
                </a:schemeClr>
              </a:buClr>
              <a:buSzPct val="100000"/>
            </a:pPr>
            <a: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   the rating for a BIP.</a:t>
            </a:r>
          </a:p>
          <a:p>
            <a:pPr marL="1028700" lvl="1" indent="-571500">
              <a:buClr>
                <a:schemeClr val="accent2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Calculate changes in repeated </a:t>
            </a:r>
            <a:b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ratings over time.</a:t>
            </a:r>
            <a:endParaRPr lang="en-US" sz="2000" b="1" dirty="0">
              <a:solidFill>
                <a:schemeClr val="tx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ED02009-C58C-4D0F-9520-FF6F34112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9" y="5864491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9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0C6FEE7-7233-420B-8A3D-C441D3C9CEF8}"/>
              </a:ext>
            </a:extLst>
          </p:cNvPr>
          <p:cNvSpPr txBox="1"/>
          <p:nvPr/>
        </p:nvSpPr>
        <p:spPr>
          <a:xfrm>
            <a:off x="0" y="467130"/>
            <a:ext cx="8973403" cy="110799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prstClr val="white"/>
                </a:solidFill>
                <a:latin typeface="Didot"/>
                <a:cs typeface="Didot"/>
              </a:rPr>
              <a:t>??? Questions ???</a:t>
            </a:r>
            <a:endParaRPr lang="en-US" sz="4400" b="1" dirty="0">
              <a:solidFill>
                <a:prstClr val="white"/>
              </a:solidFill>
              <a:latin typeface="Didot"/>
              <a:cs typeface="Dido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A94B481-9FBA-46FB-A293-11C190E51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98" y="1641734"/>
            <a:ext cx="8973403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 typeface="Monotype Sorts"/>
              <a:buNone/>
            </a:pPr>
            <a:endParaRPr kumimoji="0" lang="en-US" altLang="en-US" sz="1800" b="1" dirty="0">
              <a:solidFill>
                <a:prstClr val="black"/>
              </a:solidFill>
              <a:latin typeface="Chalkboard"/>
              <a:cs typeface="Chalkboard"/>
            </a:endParaRPr>
          </a:p>
          <a:p>
            <a:pPr algn="ctr">
              <a:spcBef>
                <a:spcPct val="0"/>
              </a:spcBef>
              <a:buClrTx/>
              <a:buSzTx/>
              <a:buFont typeface="Monotype Sorts"/>
              <a:buNone/>
            </a:pPr>
            <a:r>
              <a:rPr kumimoji="0" lang="en-US" altLang="en-US" sz="36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 us hear from you!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36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dti@developmentaltherapyinstitute.org</a:t>
            </a:r>
            <a:endParaRPr kumimoji="0" lang="en-US" altLang="en-US" sz="2400" b="1" dirty="0">
              <a:solidFill>
                <a:srgbClr val="000090"/>
              </a:solidFill>
              <a:latin typeface="Chalkboard" pitchFamily="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0D4EA044-650F-487C-9CA5-47AF00B93D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934" y="3185670"/>
            <a:ext cx="4165980" cy="3451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D2079B27-E65C-4D58-853B-7676CF8DA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815" b="-7815"/>
          <a:stretch>
            <a:fillRect/>
          </a:stretch>
        </p:blipFill>
        <p:spPr bwMode="auto">
          <a:xfrm>
            <a:off x="5848050" y="3414946"/>
            <a:ext cx="2247595" cy="245914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9862D4E-3412-49E5-B338-5E74B048F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80" y="5874092"/>
            <a:ext cx="763186" cy="76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7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2963</TotalTime>
  <Words>1517</Words>
  <Application>Microsoft Office PowerPoint</Application>
  <PresentationFormat>On-screen Show (4:3)</PresentationFormat>
  <Paragraphs>421</Paragraphs>
  <Slides>45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64" baseType="lpstr">
      <vt:lpstr>ＭＳ Ｐゴシック</vt:lpstr>
      <vt:lpstr>ＭＳ Ｐゴシック</vt:lpstr>
      <vt:lpstr>Arial</vt:lpstr>
      <vt:lpstr>Arial Black</vt:lpstr>
      <vt:lpstr>Calibri</vt:lpstr>
      <vt:lpstr>Chalkboard</vt:lpstr>
      <vt:lpstr>Courier New</vt:lpstr>
      <vt:lpstr>Didot</vt:lpstr>
      <vt:lpstr>Eurostile</vt:lpstr>
      <vt:lpstr>Lucida Calligraphy</vt:lpstr>
      <vt:lpstr>Monotype Sorts</vt:lpstr>
      <vt:lpstr>Times</vt:lpstr>
      <vt:lpstr>Times New Roman</vt:lpstr>
      <vt:lpstr>Trebuchet MS</vt:lpstr>
      <vt:lpstr>Wingdings</vt:lpstr>
      <vt:lpstr>Wingdings 3</vt:lpstr>
      <vt:lpstr>Zapf Dingbats</vt:lpstr>
      <vt:lpstr>Facet</vt:lpstr>
      <vt:lpstr>Document</vt:lpstr>
      <vt:lpstr>PowerPoint Presentation</vt:lpstr>
      <vt:lpstr>PowerPoint Presentation</vt:lpstr>
      <vt:lpstr>Beliefs about Teaching and Learning that Guide DTT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are these developmental strands essential for every individual? </vt:lpstr>
      <vt:lpstr>                                 Developmental Therapy-Teaching (DTT)   </vt:lpstr>
      <vt:lpstr>PowerPoint Presentation</vt:lpstr>
      <vt:lpstr>PowerPoint Presentation</vt:lpstr>
      <vt:lpstr>DTORF-R is… NOT Your Typical Developmental Assessment Instrument!  </vt:lpstr>
      <vt:lpstr> DTORF-R is…   a growth-based  behavioral    rating            instrument   defining student  competencies   in the four DTT  developmental   domains.    </vt:lpstr>
      <vt:lpstr>DTORF-R Ratings are Used to…</vt:lpstr>
      <vt:lpstr>In Brief, DTORF-R is…  Designed to be Part of  a Comprehensive Assessment</vt:lpstr>
      <vt:lpstr>Example of a DTORF-R Rating, page 1</vt:lpstr>
      <vt:lpstr>Example of a DTORF-R Rating, page 2</vt:lpstr>
      <vt:lpstr>DTORF-R Rating Rules: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? ? How do Teachers Change Instruction from  Stage  to  Stage ?</vt:lpstr>
      <vt:lpstr>Help for Teachers:  the Developmental Teaching Inventory of Teacher Skills (DTRITS)</vt:lpstr>
      <vt:lpstr>DTT Empowers a Teaching Team to…</vt:lpstr>
      <vt:lpstr>Behave, Speak, Relate, and Think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Georgia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Mary Wood</dc:creator>
  <cp:lastModifiedBy>Bonnie Echard</cp:lastModifiedBy>
  <cp:revision>170</cp:revision>
  <dcterms:created xsi:type="dcterms:W3CDTF">2016-10-16T15:34:55Z</dcterms:created>
  <dcterms:modified xsi:type="dcterms:W3CDTF">2018-02-22T16:32:39Z</dcterms:modified>
</cp:coreProperties>
</file>